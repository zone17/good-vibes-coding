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95400"/>
            <a:ext cx="838200" cy="838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6670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FOUNDERS' REFERENCE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1143000" y="3514725"/>
            <a:ext cx="16482060" cy="1562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600" spc="-3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plan, </a:t>
            </a:r>
            <a:pPr algn="l" indent="0" marL="0">
              <a:lnSpc>
                <a:spcPct val="95000"/>
              </a:lnSpc>
              <a:buNone/>
            </a:pPr>
            <a:r>
              <a:rPr lang="en-US" sz="12600" i="1" spc="-3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</a:t>
            </a:r>
            <a:endParaRPr lang="en-US" sz="12600" dirty="0"/>
          </a:p>
        </p:txBody>
      </p:sp>
      <p:sp>
        <p:nvSpPr>
          <p:cNvPr id="5" name="Text 2"/>
          <p:cNvSpPr/>
          <p:nvPr/>
        </p:nvSpPr>
        <p:spPr>
          <a:xfrm>
            <a:off x="1143000" y="5649218"/>
            <a:ext cx="12753975" cy="1735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synthesis. Path A → C, three starter offerings, the podcast as a co-equal asset, and the seventeen open questions that unblock the first ninety days.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143000" y="8995470"/>
            <a:ext cx="526316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 · MATT &amp; MELISSA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283383" y="8995470"/>
            <a:ext cx="1937817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30,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plan,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page.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715518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267968"/>
            <a:ext cx="7966329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2-person and productize for 12–18 months (Path A), then spin WikiFold into a SaaS product (Path C). The podcast sits across both as the highest-leverage methodology-IP delivery surface we will ever build.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5401568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v2 changed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5954018"/>
            <a:ext cx="7966329" cy="1871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starter sprints pull first revenue from week 5–6 to </a:t>
            </a:r>
            <a:pPr algn="l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2–3. </a:t>
            </a:r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collapses two moat investments — Mel-forward authority and methodology IP — into one daily compounding artifact.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8092380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Year-3 base case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8644830"/>
            <a:ext cx="796632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$756K revenue · $288K combined founder draws · 30% margin · ~33-hour weeks.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01225" y="306794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values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029825" y="3810893"/>
            <a:ext cx="4189646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· Productized 2-person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541326" y="3810893"/>
            <a:ext cx="2060749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 – 1.4M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029825" y="4504283"/>
            <a:ext cx="418964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C · WikiFold SaaS spinoff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4541326" y="4504283"/>
            <a:ext cx="2060749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 – 55M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29825" y="5202436"/>
            <a:ext cx="418964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 · Boutique hire-up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541326" y="5202436"/>
            <a:ext cx="2060749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 – 3M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029825" y="5900589"/>
            <a:ext cx="418964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D · Vertical SaaS pivot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541326" y="5900589"/>
            <a:ext cx="2060749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– 18M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91700" y="7384554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number to track: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wins attributable to the podcast. Zero by month 12 → passion project.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→ real channel.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3000" y="9515475"/>
            <a:ext cx="32576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49 · EXECUTIVE SUMMARY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94830" y="914400"/>
            <a:ext cx="255017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OF X · THESIS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85395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8920654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thesis, </a:t>
            </a:r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validated.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Cuban's April 2026 call still holds. The opportunity is the AI implementation layer for US small businesses that won't have AI budgets or in-house experts.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US-only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$20–45B today, $60–110B by 2028.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4894436"/>
            <a:ext cx="5258562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36.2M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952500" y="6061249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 small &amp; medium businesses (SBA, 2025).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91300" y="4894436"/>
            <a:ext cx="5258562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3–5M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6591300" y="6061249"/>
            <a:ext cx="353187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Convertible buyer pool — employer firms with $200K–$5M revenue.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30100" y="4894436"/>
            <a:ext cx="5258562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/ 14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12230100" y="6061249"/>
            <a:ext cx="353187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 claiming AI use vs. percent with it integrated. The empirical leg of the thesis.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9013552"/>
            <a:ext cx="1471612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45000"/>
              </a:lnSpc>
              <a:buNone/>
            </a:pPr>
            <a:r>
              <a:rPr lang="en-US" sz="18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01-thesis-validation.md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45000"/>
              </a:lnSpc>
              <a:buNone/>
            </a:pPr>
            <a:r>
              <a:rPr lang="en-US" sz="18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03-market-sizing.md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Goldman Sachs 10KSB, Feb 2026; SBA Office of Advocacy.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26901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49 · PART I — THESIS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small businesses have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downloaded the app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not read the manual.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826222"/>
            <a:ext cx="7966329" cy="20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76% claim-use / 14% integrated gap is the single strongest empirical leg of the thesis. Owners have signed up. They have not redesigned how the work gets done.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6081564"/>
            <a:ext cx="79663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gap is what we sell into — not "buy more AI," but "make the AI you already pay for actually do the work."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24000" y="7481739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for every sales conversation: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fire your staff with AI. We give the people you already trust new tools.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801350" y="4651474"/>
            <a:ext cx="152169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AI use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686731" y="4318099"/>
            <a:ext cx="1143819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801350" y="6617419"/>
            <a:ext cx="316871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into operations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686731" y="6284044"/>
            <a:ext cx="1143819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470380" y="8135689"/>
            <a:ext cx="784338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Goldman Sachs 10KSB AI Survey, Feb 2026. n = 1,200 SMB owners.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268921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49 · PART I — THESIS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7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$72B · SAM $5.2B ·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SOM grows founder-bound.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656707"/>
            <a:ext cx="32759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96011" y="3656707"/>
            <a:ext cx="17470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24030" y="3656707"/>
            <a:ext cx="1809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14780" y="3656707"/>
            <a:ext cx="17422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8037" y="3656707"/>
            <a:ext cx="56564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4285357"/>
            <a:ext cx="327594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96011" y="4285357"/>
            <a:ext cx="1747019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24030" y="4285357"/>
            <a:ext cx="1809750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14780" y="4285357"/>
            <a:ext cx="174225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8037" y="4285357"/>
            <a:ext cx="5656430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5–6 person firm by Y5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5082555"/>
            <a:ext cx="327594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996011" y="5082555"/>
            <a:ext cx="174701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24030" y="5082555"/>
            <a:ext cx="180975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$720K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14780" y="5082555"/>
            <a:ext cx="174225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38037" y="5082555"/>
            <a:ext cx="565643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base scenario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71600" y="5874990"/>
            <a:ext cx="327594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996011" y="5874990"/>
            <a:ext cx="174701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124030" y="5874990"/>
            <a:ext cx="180975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$26K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314780" y="5874990"/>
            <a:ext cx="174225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8037" y="5874990"/>
            <a:ext cx="565643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Productized + retainer mix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1600" y="6667426"/>
            <a:ext cx="327594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996011" y="6667426"/>
            <a:ext cx="174701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124030" y="6667426"/>
            <a:ext cx="180975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314780" y="6667426"/>
            <a:ext cx="174225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$65K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438037" y="6667426"/>
            <a:ext cx="5656430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year retainer life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71600" y="7459861"/>
            <a:ext cx="327594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ceiling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996011" y="7459861"/>
            <a:ext cx="617808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hours, not market reach.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8037" y="7459861"/>
            <a:ext cx="5656430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does not move this.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43000" y="8654504"/>
            <a:ext cx="1648206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+ regional service businesses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the segment-fit table. The capacity ceiling is the load-bearing constraint, which is why the path is "productize, then spin a product."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3000" y="9515475"/>
            <a:ext cx="26924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49 · PART I — THESIS</a:t>
            </a:r>
            <a:endParaRPr lang="en-US" sz="15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Commoditization is real, and it's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months out.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71177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structural threats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876425" y="4454723"/>
            <a:ext cx="681894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evolution.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"ask the AI to do it" is built into every SaaS product, the implementation layer thins.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76425" y="5869186"/>
            <a:ext cx="6818948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SaaS bundling.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Toast, ServiceTitan, Mindbody bundle AI features into existing subscriptions. Our work becomes a free feature of their product.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801225" y="371177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partially mitigates it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144125" y="4454723"/>
            <a:ext cx="681894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Editorial-archive moat.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episodes of plain-language receipts is a counter-asset Toast can't match through the same channel.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144125" y="5869186"/>
            <a:ext cx="681894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 as IP.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no-platform-incumbent-sponsorship rule on the podcast preserves credibility.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144125" y="7283648"/>
            <a:ext cx="681894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authority.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hospitality network is not a feature flag.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26712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49 · PART I — THESIS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4973" y="914400"/>
            <a:ext cx="481002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OF X · OPERATING PHILOSOPHY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388394"/>
            <a:ext cx="189398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two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245644"/>
            <a:ext cx="16482060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Sullivan / Hardy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831806"/>
            <a:ext cx="1275397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founders' Unique Abilities stay intact. The 10x trajectory definition stays intact. The first three Whos resequence around the podcast.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ABILITIES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only Matt and Mel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2991743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MATT'S UA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572768"/>
            <a:ext cx="7161848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judgment + plain-language explanation.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533525" y="4704308"/>
            <a:ext cx="716184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decisions that make a small business's AI implementation actually work — and the ability to explain those decisions to an owner who didn't go to college.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533525" y="6028283"/>
            <a:ext cx="716184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Keep: editorial point of view, lead/main scripts, plain-language drafting, job-fear reframing on-air.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801225" y="2991743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UA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01225" y="3572768"/>
            <a:ext cx="7161848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spc="-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instinct + curious-listener voice.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801225" y="4704308"/>
            <a:ext cx="716184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years of running real venues, plus the emotional differentiator on the show — the question a normal person would ask, asked the way a normal person would ask it.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01225" y="6028283"/>
            <a:ext cx="716184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Keep: editorial picks, curious-listener question, human landing, monthly long-form interviews.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46357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49 · PART II — OPERATING PHILOSOPHY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THREE WHOS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forces a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resequence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who we hire first.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43100" y="3684687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bookkeeper / accountant — month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43100" y="4179987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~$300–600/mo. Unchanged from v1. Removes the most chronic source of founder friction first.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943100" y="4918174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editor — month 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43100" y="5413474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~$400–600/mo. New in v2. Mechanical only — encoding, normalization, posting. Recovers 3–5 hrs/wk.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43100" y="6151662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podcast editor (full) — month 4–6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43100" y="6646962"/>
            <a:ext cx="1565795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~$2,500/mo.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hire.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optional if cadence stays at 4×/week. Determines whether the podcast becomes self-multiplying or founder-grinding.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43100" y="7756624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 ops / PM coordinator — month 9–12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43100" y="8251924"/>
            <a:ext cx="1565795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~$2K–4K/mo. Unchanged from v1, but moved later by ~3 months. The v1 content editor at Q1 2027 is superseded by the audio editor + podcast editor pair.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45751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49 · PART II — OPERATING PHILOSOPHY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52108" y="914400"/>
            <a:ext cx="299289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OF X · THE PATH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210279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three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8205466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Confirmed.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2-person and productize for 12–18 months. Spin WikiFold into SaaS in months 12–60. The podcast sits across both. Paths E and F, after evaluation, were rejected for GVC specifically.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RECOMMENDED PATH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C, with the podcast as the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connective asset.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929509"/>
            <a:ext cx="680866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533525" y="4862959"/>
            <a:ext cx="680866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Productized 2-person · months 0–18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5472559"/>
            <a:ext cx="68086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Operator-led, premium pricing. Productized packages + retainer flywheel. Walk-away $700K–$1.4M.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24900" y="3538984"/>
            <a:ext cx="838200" cy="304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0144125" y="3929509"/>
            <a:ext cx="680866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144125" y="4862959"/>
            <a:ext cx="680866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SaaS spinoff · months 12–60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144125" y="5472559"/>
            <a:ext cx="68086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funds product development. Product compounds beyond founder hours. Walk-away $14M–$55M.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3970" y="7234684"/>
            <a:ext cx="157200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sits across both </a:t>
            </a:r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distributing Mel's hospitality authority, compounding the methodology IP, and acting as the launch surface for WikiFold v2 in months 12–18.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30036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49 · PART III — THE PATH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EVALUATED AND REJECTED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E and F look exciting. They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vaporize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already have.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749873"/>
            <a:ext cx="716184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533525" y="468332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+ Tools + Consulting flywheel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5292923"/>
            <a:ext cx="716184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Daily-news is the hardest commercial podcast format — $25–$40 CPMs, 0.5–1% premium conversion. Acquired's Ben + David spent eight years toward those numbers. Neither founder has Founder-as-Talent appetite.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57363" y="7174111"/>
            <a:ext cx="32258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$5–18M · Rejected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801225" y="3749873"/>
            <a:ext cx="716184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801225" y="468332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Acquirable Media (Hard Fork-tier exit)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801225" y="5292923"/>
            <a:ext cx="716184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Fork and How-I-Built-This-tier exits depend on existing platform-talent or network ownership. GVC has no analog. Path F would vaporize Mel's network + WikiFold + consulting infrastructure to chase a lottery.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25063" y="7174111"/>
            <a:ext cx="31384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$2–8M · Rejected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30073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49 · PART III — THE PATH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VALUES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raises the ceiling on A and C.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Materially.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315146"/>
            <a:ext cx="35005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214045" y="3315146"/>
            <a:ext cx="18978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ESTIMATE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2901" y="3315146"/>
            <a:ext cx="18854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ESTIMATE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59330" y="3315146"/>
            <a:ext cx="73854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CHANGED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943796"/>
            <a:ext cx="350051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Productized 2-person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214045" y="3943796"/>
            <a:ext cx="189785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 – 800K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492901" y="3943796"/>
            <a:ext cx="18854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 – 1.4M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59330" y="3943796"/>
            <a:ext cx="738549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as SaaS distribution moat warrants premium multiple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772471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Boutique hire-up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214045" y="4772471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 – 3M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492901" y="4772471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 – 3M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59330" y="4772471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596384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WikiFold SaaS spinoff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214045" y="5596384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 – 40M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492901" y="5596384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 – 55M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59330" y="5596384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archive + audience as counter-moat to vertical SaaS bundling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6420296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Vertical SaaS pivot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214045" y="6420296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 – 15M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7492901" y="6420296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– 18M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759330" y="6420296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direction, slightly stronger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7244209"/>
            <a:ext cx="350051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Media flywheel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5214045" y="7244209"/>
            <a:ext cx="1897856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492901" y="7244209"/>
            <a:ext cx="1885429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 – 18M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759330" y="7244209"/>
            <a:ext cx="738549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and rejected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8068121"/>
            <a:ext cx="350051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Acquirable media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5214045" y="8068121"/>
            <a:ext cx="189785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492901" y="8068121"/>
            <a:ext cx="188542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 – 8M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759330" y="8068121"/>
            <a:ext cx="738549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and rejected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9515475"/>
            <a:ext cx="30125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49 · PART III — THE PATH</a:t>
            </a:r>
            <a:endParaRPr lang="en-US" sz="15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19397" y="914400"/>
            <a:ext cx="392560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OF X · REVENUE MODEL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96445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four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2996255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starters, one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ladder.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Productized packages funneling into retainers. Three $4.5K–$7.5K starter offerings live at the front of the menu and pull first revenue from week 5–6 to week 2–3.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MENU · 9 SKUS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menu,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to back.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334518"/>
            <a:ext cx="79270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STARTER SPRINTS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072705"/>
            <a:ext cx="5442897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Menu &amp; Reviews Sprint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3469853"/>
            <a:ext cx="581095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wedge · CA SB-68 tailwind · 2 wks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089502" y="2896493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59626" y="3096518"/>
            <a:ext cx="35577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43000" y="4420419"/>
            <a:ext cx="3882834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AI-Ready Site Refresh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4817566"/>
            <a:ext cx="581095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Overview doesn't see you" · 3 wks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89502" y="4244206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59626" y="4444231"/>
            <a:ext cx="35577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43000" y="5768132"/>
            <a:ext cx="358559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Capture Sprint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6165279"/>
            <a:ext cx="5810953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gateway · 2 wks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089502" y="5591919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59626" y="5791944"/>
            <a:ext cx="35577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43000" y="6996782"/>
            <a:ext cx="79270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&amp; DEEPER BUILDS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7734970"/>
            <a:ext cx="20992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Audit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43000" y="8132118"/>
            <a:ext cx="554713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2–3 highest-ROI AI plays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33369" y="7558757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03493" y="7758782"/>
            <a:ext cx="61190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3000" y="9039820"/>
            <a:ext cx="554713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Sprint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833369" y="8906470"/>
            <a:ext cx="124152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303493" y="9106495"/>
            <a:ext cx="61190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wks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448800" y="3072705"/>
            <a:ext cx="148054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Sprint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448800" y="3469853"/>
            <a:ext cx="532884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workflow shipped end-to-end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927238" y="2896493"/>
            <a:ext cx="145345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6609293" y="3096518"/>
            <a:ext cx="61190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wks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448800" y="4420419"/>
            <a:ext cx="236056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Replacement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448800" y="4817566"/>
            <a:ext cx="481608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expensive SaaS stack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4429408" y="4244206"/>
            <a:ext cx="160168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$35–55K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6259696" y="4444231"/>
            <a:ext cx="961504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6–10 wks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448800" y="5649069"/>
            <a:ext cx="79270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RETAINERS · THE ENGINE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448800" y="6387257"/>
            <a:ext cx="403605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Ops Retainer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TIER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448800" y="6784404"/>
            <a:ext cx="479653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hospitality margins · honest tier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4410432" y="6211044"/>
            <a:ext cx="187664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$1,500/mo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16515680" y="6411069"/>
            <a:ext cx="70552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448800" y="7734970"/>
            <a:ext cx="252434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Retainer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448800" y="8132118"/>
            <a:ext cx="479653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retainer base · the engine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4410432" y="7558757"/>
            <a:ext cx="187664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$2,500/mo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16515680" y="7758782"/>
            <a:ext cx="70552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43000" y="9515475"/>
            <a:ext cx="38225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49 · PART IV — REVENUE MODEL</a:t>
            </a:r>
            <a:endParaRPr lang="en-US" sz="15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STARTER OFFERINGS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on-ramps.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retainer engine.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43075" y="3086993"/>
            <a:ext cx="15647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wedge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72516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Menu &amp; Reviews Sprint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4906268"/>
            <a:ext cx="442786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single-source-of-truth + AI review responses + allergen tagging. CA SB-68 allergen-disclosure law (Jul 1, 2026) is the regulatory tailwind.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3525" y="693509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 flat · 2 weeks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33525" y="7478018"/>
            <a:ext cx="442786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Ladders to $1,500/mo Hospitality Operations Retainer.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204025" y="3086993"/>
            <a:ext cx="17026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Matt's wedge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94475" y="3725168"/>
            <a:ext cx="44279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AI-Ready Site Refresh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4475" y="4468118"/>
            <a:ext cx="442794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pre-AI SMB sites. Frame: "ChatGPT and Google AI Overview don't see you, and competitors do" — never "your site looks old."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4475" y="6496943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 flat · 3 weeks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994475" y="7039868"/>
            <a:ext cx="44279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Ladders to $2,500/mo Operations Retainer.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665050" y="3086993"/>
            <a:ext cx="22136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gateway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55500" y="3725168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Capture Sprint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455500" y="4468118"/>
            <a:ext cx="442786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how the business actually runs. Every retainer client is a future $99/mo SaaS customer when WikiFold v2 ships.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55500" y="649694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$6,500 flat · 2 weeks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455500" y="7039868"/>
            <a:ext cx="442786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Ladders to $2,500/mo Operations Retainer with "your wiki stays alive."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9515475"/>
            <a:ext cx="380350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49 · PART IV — REVENUE MODEL</a:t>
            </a:r>
            <a:endParaRPr lang="en-US" sz="15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ANTI-PATTERNS REFUSED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evaluated and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not to build.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057079"/>
            <a:ext cx="47513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 OFFERING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28408" y="3057079"/>
            <a:ext cx="108163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3685729"/>
            <a:ext cx="475131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social media calendars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428408" y="3685729"/>
            <a:ext cx="1081634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Off-brand · knife-fight with $79/mo SaaS · the canonical Bronze/Silver/Gold template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71600" y="4451524"/>
            <a:ext cx="4751312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Customer-service chatbots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428408" y="4451524"/>
            <a:ext cx="10816348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Qualtrics: 4× failure rate of other AI tasks · 88% of customers prefer humans · "fire your staff with AI" anti-pattern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71600" y="5621164"/>
            <a:ext cx="475131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Mailchimp → Klaviyo migrations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28408" y="5621164"/>
            <a:ext cx="1081634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E-commerce-tilted · saturated done-for-you category · off-vertical for hospitality + services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1600" y="6382196"/>
            <a:ext cx="475131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booking-system rebuilds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428408" y="6382196"/>
            <a:ext cx="1081634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SaaS does it cheaper · $40K–$250K customs are out of starter band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71600" y="7143229"/>
            <a:ext cx="475131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bookkeeping automation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428408" y="7143229"/>
            <a:ext cx="1081634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· QuickBooks AI handles 85–95% already · build a partner channel instead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1600" y="7904262"/>
            <a:ext cx="4751312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$200/hr "AI consulting" on the homepage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428408" y="7904262"/>
            <a:ext cx="10816348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10x trap · reserved as $450/hr internal-only existing-client rate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43000" y="9515475"/>
            <a:ext cx="38196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49 · PART IV — REVENUE MODEL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51038" y="914400"/>
            <a:ext cx="229396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OF X · GTM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85700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five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5786953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referrals win. Podcast is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four.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is the most exciting asset we will ship. It is not the most productive lead source in year one. The founders should be warned, explicitly, not to over-weight it.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RANKING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leads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from in year one.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704654"/>
            <a:ext cx="9388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691482" y="2704654"/>
            <a:ext cx="74130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467" y="2704654"/>
            <a:ext cx="39534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FIT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14699" y="2704654"/>
            <a:ext cx="2384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RESULT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333304"/>
            <a:ext cx="93888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691482" y="3333304"/>
            <a:ext cx="741301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hospitality network referrals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332467" y="3333304"/>
            <a:ext cx="395349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614699" y="3333304"/>
            <a:ext cx="238446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weeks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1600" y="4099099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691482" y="4099099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/ accountant partnerships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332467" y="4099099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614699" y="4099099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weeks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1600" y="4860131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691482" y="4860131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Matt's eng-peer referrals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332467" y="4860131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614699" y="4860131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weeks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1600" y="5621164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2691482" y="5621164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→ newsletter recap → site → Calendly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332467" y="5621164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(Mel-led audiograms)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614699" y="5621164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8–16 weeks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71600" y="6382196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691482" y="6382196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Loom-based sample build content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332467" y="6382196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614699" y="6382196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weeks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71600" y="7143229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691482" y="7143229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blog (1 essay/mo)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0332467" y="7143229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614699" y="7143229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weeks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371600" y="7904262"/>
            <a:ext cx="938882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2691482" y="7904262"/>
            <a:ext cx="741301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Industry-specific podcast appearances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332467" y="7904262"/>
            <a:ext cx="3953499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4614699" y="7904262"/>
            <a:ext cx="2384468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weeks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371600" y="8665294"/>
            <a:ext cx="938882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2691482" y="8665294"/>
            <a:ext cx="7413014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 Profile + local SEO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332467" y="8665294"/>
            <a:ext cx="3953499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4614699" y="8665294"/>
            <a:ext cx="238446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8–16 weeks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9515475"/>
            <a:ext cx="25141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49 · PART V — GTM</a:t>
            </a:r>
            <a:endParaRPr lang="en-US" sz="15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SLEEPER FINDING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newsletter recap is where conversion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compounds.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912319"/>
            <a:ext cx="7966329" cy="147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v1, the newsletter was gated on Matt committing the writing time. In v2, the daily podcast research already exists — the recap writes itself.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43000" y="5619155"/>
            <a:ext cx="7966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teaches the brain. Email captures the address. The podcast unblocks the newsletter, and the newsletter is what actually puts a Calendly link in front of a buyer.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24000" y="7390805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Therefore: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recap is not "podcast marketing." It is the channel. The audio is the rehearsal — the email is the conversion.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01225" y="4315718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DISCIPLINE · PICK THREE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0" y="4801493"/>
            <a:ext cx="7229475" cy="1547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recap from daily research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Mel-led audiograms (LinkedIn, Instagram)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Show-notes SEO archive (JSON-LD)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01225" y="7320855"/>
            <a:ext cx="71618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— STAY DISCIPLINED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01225" y="7806630"/>
            <a:ext cx="71618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Loom embeds. Guest swaps before M9. YouTube long-form. TikTok. X threads.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24445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49 · PART V — GTM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12-MONTH MATH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1,200 listeners per episode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buys us.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850481"/>
            <a:ext cx="3885057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143000" y="5012531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Listeners per episode (base case, Y1 close)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19700" y="3850481"/>
            <a:ext cx="3885057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5219700" y="5017294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calls per month attributable to the podcast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96400" y="3850481"/>
            <a:ext cx="3885057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9296400" y="5017294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 conversions per month (warm-list lift)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373100" y="3850481"/>
            <a:ext cx="3885057" cy="214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$150–250K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13373100" y="6069806"/>
            <a:ext cx="35318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Podcast-attributable revenue at Y1 close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4000" y="7624167"/>
            <a:ext cx="157200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Material, not transformative.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~25–35% of the base-case Y1 target. The podcast is a brand investment until M9–10, then becomes a lead engine if conditions hold. Treating it as "the channel" before then is a common founder mistake.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515475"/>
            <a:ext cx="24925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49 · PART V — GTM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93815" y="914400"/>
            <a:ext cx="3551185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 OF X · THE PODCAST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74999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six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2570330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podcast, as a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asset.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content project. The highest-leverage methodology-IP delivery surface we will ever build — if (and only if) four conditions hold by episode 150.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PODCAST AT ALL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collapses two of our highest-effort moats into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daily artifact.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43075" y="3807023"/>
            <a:ext cx="12381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442614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Mel-forward hospitality authority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5588198"/>
            <a:ext cx="442786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daily in a copy-resistant format. Back-catalog cannot be cloned overnight. The single hardest thing to copy is the operator's voice.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204025" y="3807023"/>
            <a:ext cx="196840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IP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94475" y="4426148"/>
            <a:ext cx="442794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playbook, drafted on-air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94475" y="5588198"/>
            <a:ext cx="4427944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 generates raw material — job-fear reframings, plain-language analogies, recurring on-air metrics — that flow into the consulting playbook, sales decks, and WikiFold articles.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65050" y="3807023"/>
            <a:ext cx="19493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surface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455500" y="4426148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v2 launch arc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55500" y="5150048"/>
            <a:ext cx="442786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4–6 episode product-launch arc at month 12–18 is the single highest-leverage marketing decision available to the founders. Owned, named, on the record.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8654504"/>
            <a:ext cx="1471612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Matt an estimated 6–8 hrs/week vs. v1's standalone "Implementation Playbook as a versioned doc," which is downgraded to a transcript-derivation byproduct.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0945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49 · PART VI — PODCAST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CONDITIONS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is a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moat, not a structural one.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130748"/>
            <a:ext cx="147161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is copyable in 6 months. ~70% of daily podcasts die inside 18 months. Audience moats belong to shows, not consultancies. Activates at episode ~150 only if all four hold.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66875" y="4664273"/>
            <a:ext cx="30338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57325" y="5219551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Narrowed editorial position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57325" y="5905351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framework.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Augmentation Lens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Three-Question Test.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name, the position stays copyable.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34575" y="4664273"/>
            <a:ext cx="351086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25025" y="5219551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founder-pairing chemistry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725025" y="5905351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Story-owner + reactor format. Not equal-time alternating dialogue. Mel owns the cold open; Matt owns lead/main scripts.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66875" y="7772251"/>
            <a:ext cx="357188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57325" y="8327529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&lt;8 founder-hours / week by M6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57325" y="9013329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Who has landed. If founder hours stay above 8/wk past M6, the show is grinding the founders, not multiplying them.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34575" y="7772251"/>
            <a:ext cx="36544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b="1" spc="3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25025" y="8327529"/>
            <a:ext cx="731882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routed into the GVC funnel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725025" y="9013329"/>
            <a:ext cx="7318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capture working. Without it, the audio is a parasocial gift to the buyer's commute, not a pipeline.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9515475"/>
            <a:ext cx="30963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49 · PART VI — PODCAST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OPTIMIZATION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line-level changes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best dailies.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3711773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Cold open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33525" y="4435673"/>
            <a:ext cx="44278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seconds. Mel-led. Number-first.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3550" y="4930973"/>
            <a:ext cx="422784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"Ninety percent. That's how many deaf children in this trial got their hearing back from a single shot the FDA approved last week."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3525" y="6363295"/>
            <a:ext cx="44278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 from </a:t>
            </a:r>
            <a:pPr algn="l" indent="0" marL="0">
              <a:lnSpc>
                <a:spcPct val="150000"/>
              </a:lnSpc>
              <a:buNone/>
            </a:pPr>
            <a:r>
              <a:rPr lang="en-US" sz="16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Indicator.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994475" y="3711773"/>
            <a:ext cx="44279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Hand-off cadence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94475" y="4435673"/>
            <a:ext cx="44279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35-second voice-block cap. Named reaction types — no generic "tell me more."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94450" y="5616773"/>
            <a:ext cx="4575200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Curious-listener question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line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landing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Job-fear reframing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455500" y="3711773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Sign-off ritual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55500" y="4435673"/>
            <a:ext cx="44278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every episode for 8 weeks.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55525" y="4930973"/>
            <a:ext cx="422784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technology is whatever we make of it." / "We'll be back tomorrow with more of what's working." / </a:t>
            </a:r>
            <a:pPr algn="l" indent="0" marL="0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vibes only."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09950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49 · PART VI — PODCAST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episodes per week, plus a Friday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cut.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347591"/>
            <a:ext cx="1971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24275" y="3347591"/>
            <a:ext cx="12052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10560" y="3347591"/>
            <a:ext cx="10726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(5)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4164" y="3347591"/>
            <a:ext cx="7936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8790" y="3347591"/>
            <a:ext cx="7861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3×/WK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976241"/>
            <a:ext cx="197167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/ story-pick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724275" y="3976241"/>
            <a:ext cx="120528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310560" y="3976241"/>
            <a:ext cx="1072604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764164" y="3976241"/>
            <a:ext cx="793626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8790" y="3976241"/>
            <a:ext cx="786110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71600" y="5150644"/>
            <a:ext cx="197167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724275" y="5150644"/>
            <a:ext cx="120528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310560" y="5150644"/>
            <a:ext cx="107260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764164" y="5150644"/>
            <a:ext cx="793626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8790" y="5150644"/>
            <a:ext cx="786110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1600" y="5911676"/>
            <a:ext cx="197167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+ show-notes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724275" y="5911676"/>
            <a:ext cx="120528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310560" y="5911676"/>
            <a:ext cx="1072604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764164" y="5911676"/>
            <a:ext cx="793626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938790" y="5911676"/>
            <a:ext cx="786110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71600" y="7081317"/>
            <a:ext cx="197167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review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3724275" y="7081317"/>
            <a:ext cx="1205285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310560" y="7081317"/>
            <a:ext cx="1072604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764164" y="7081317"/>
            <a:ext cx="793626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938790" y="7081317"/>
            <a:ext cx="786110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71600" y="7842349"/>
            <a:ext cx="197167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founder hours / wk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5310560" y="7842349"/>
            <a:ext cx="1072604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6764164" y="7842349"/>
            <a:ext cx="793626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938790" y="7842349"/>
            <a:ext cx="786110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791700" y="4186684"/>
            <a:ext cx="72043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4×/week (Mon–Thu) + Friday "What Made You Smile" listener cut.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the trilemma: ritual preserved, polish improved, email-list capture, recurring segment moat, eventual interview slot.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410700" y="6396484"/>
            <a:ext cx="796632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is not a full episode — 5–7 minutes of listener-submitted stories, alternating Matt/Mel reads. ~30 minutes total production.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9410700" y="7444234"/>
            <a:ext cx="796632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go weekly.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Forfeits the morning-ritual moat that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First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5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their audiences on.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43000" y="9515475"/>
            <a:ext cx="30778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49 · PART VI — PODCAST</a:t>
            </a:r>
            <a:endParaRPr lang="en-US" sz="15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IP PIPELINE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episode produces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artifacts.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582168"/>
            <a:ext cx="26920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29125" y="2582168"/>
            <a:ext cx="32520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30319" y="2582168"/>
            <a:ext cx="91663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USES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210818"/>
            <a:ext cx="2692051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briefing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4429125" y="3210818"/>
            <a:ext cx="325203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Auto-scrape, 35+ sourced stories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030319" y="3210818"/>
            <a:ext cx="9166379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GVC blog · WikiFold articles · Matt's monthly essay · sales-deck "things we tracked"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71600" y="4353818"/>
            <a:ext cx="2692051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summaries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429125" y="4353818"/>
            <a:ext cx="3252030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Per-episode show-notes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30319" y="4353818"/>
            <a:ext cx="9166379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JSON-LD on goodvibescoding.com · Mel's 2/wk LinkedIn carousels · AI-search answer surface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371600" y="5492055"/>
            <a:ext cx="2692051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Customer-voice quotes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429125" y="5492055"/>
            <a:ext cx="3252030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from briefing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030319" y="5492055"/>
            <a:ext cx="9166379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Sales-deck testimonials · pricing-page social proof · email snippets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71600" y="6630293"/>
            <a:ext cx="2692051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case studies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4429125" y="6630293"/>
            <a:ext cx="3252030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Tagged when story = real client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8030319" y="6630293"/>
            <a:ext cx="9166379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GVC case-study page · Mel's hospitality vertical authority · Loom-walkthrough material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371600" y="7768530"/>
            <a:ext cx="2692051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fragments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4429125" y="7768530"/>
            <a:ext cx="325203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 in scripts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030319" y="7768530"/>
            <a:ext cx="9166379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implementation playbook · onboarding doc for first Who · sales-call language library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143000" y="9035355"/>
            <a:ext cx="1569720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M18: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indexed plain-language AI use-case explanations tied to real stories — exactly the corpus a sales conversation needs. The podcast becomes a sales rehearsal that runs daily.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9515475"/>
            <a:ext cx="30939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49 · PART VI — PODCAST</a:t>
            </a:r>
            <a:endParaRPr lang="en-US" sz="15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AS IP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as augmentation, not catastrophe" is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359348"/>
            <a:ext cx="796632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AI-media quadrants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85900" y="4026098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/ doom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Doomer Optimism,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of Life Institute, much of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Information's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desk.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85900" y="5026223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/ hyperscale fanboy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Priors, AI Daily Brief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(lighter), most VC-adjacent shows.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85900" y="6026348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Skeptic / debunker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Zitron's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Offline,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</a:t>
            </a:r>
            <a:pPr algn="l" indent="0" marL="0">
              <a:lnSpc>
                <a:spcPct val="145000"/>
              </a:lnSpc>
              <a:buNone/>
            </a:pPr>
            <a:r>
              <a:rPr lang="en-US" sz="22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Platformer.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85900" y="7026473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GVC: augmentation, evidence-based, plain-language, vulnerable-population-first.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Near-empty quadrant.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801225" y="3711773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NOT copyable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0" y="4264223"/>
            <a:ext cx="7229475" cy="3038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evidence drumbeat — 200 episodes of receipts beats 1 essay of position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editorial framework that listeners repeat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recurring on-air metrics that signal "we're not making this up"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operator's voice — Mel's UA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91700" y="8226623"/>
            <a:ext cx="720432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the doom cycle.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major doom story breaks, GVC covers it only through the augmentation lens — or skips.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discipline is the moat.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9515475"/>
            <a:ext cx="30979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49 · PART VI — PODCAST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KILL CRITERION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at month 12 retainer MRR is below $15K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 is below 5K listeners —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it.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4166146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4670971"/>
            <a:ext cx="4427867" cy="713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i="1" spc="-4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$15K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533525" y="5479628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MRR at month 12.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994475" y="4166146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B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94475" y="4670971"/>
            <a:ext cx="4427944" cy="713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i="1" spc="-4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94475" y="5479628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Listeners per episode at month 12.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455500" y="4166146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455500" y="4670971"/>
            <a:ext cx="4427867" cy="713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i="1" spc="-4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Pause.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455500" y="5479628"/>
            <a:ext cx="442786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double down. The show is cannibalizing the consulting business.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24000" y="7489403"/>
            <a:ext cx="157200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production is famously punishing.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daily podcasts die inside 18 months. The kill criterion is real, not theatrical. The first inbound sponsorship offer will probably arrive before audience quality justifies it — refuse before M18 regardless of offer size.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1159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49 · PART VI — PODCAST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7988" y="914400"/>
            <a:ext cx="37270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 OF X · DEFENSIBILITY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883694"/>
            <a:ext cx="217326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seven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740944"/>
            <a:ext cx="11329960" cy="156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Moats,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collapsed.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5803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doesn't add a moat. It collapses the two highest-effort moat investments — hospitality vertical authority and methodology IP — into one daily compounding artifact.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MOAT INVESTMENTS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three now flow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533525" y="299174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01 + 02 · MERGED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49656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authority + methodology IP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4639568"/>
            <a:ext cx="4427867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flow through the podcast itself. A daily compounding artifact. v1's standalone "Implementation Playbook as versioned doc" is downgraded to a transcript-derivation byproduct.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994475" y="2991743"/>
            <a:ext cx="442794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03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994475" y="3496568"/>
            <a:ext cx="44279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artifacts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94475" y="4201418"/>
            <a:ext cx="4427944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clients, named team-member testimonials, real metrics — fed by the podcast back-catalog. Customer voice is sourced on-air, not invented for the website.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455500" y="2991743"/>
            <a:ext cx="44278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27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NOT A MOAT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455500" y="349656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podcast itself, by itself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55500" y="4639568"/>
            <a:ext cx="4427867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copyable in 6 months. Audience moats belong to shows, not consultancies. The four conditions on slide 25 must all hold.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9013552"/>
            <a:ext cx="1648206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Net: Matt saves 6–8 hrs/week vs. v1 because the playbook is now a transcript byproduct, not a separate writing project.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9515475"/>
            <a:ext cx="366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49 · PART VII — DEFENSIBILITY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YEAR-3 VERTICAL SAAS THREAT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Materially weakened. Not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790554"/>
            <a:ext cx="7966329" cy="136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Toast, ServiceTitan, and Mindbody bundle AI features into existing subscriptions. The threat in 24–36 months is that our work becomes a free feature of their product.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6421189"/>
            <a:ext cx="796632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editorial archive is a counter-asset they can't match through the same channel — provided we hold the line on independence.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01225" y="4274790"/>
            <a:ext cx="716184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Independence-as-IP — the load-bearing rule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0" y="5322540"/>
            <a:ext cx="7229475" cy="245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platform-incumbent sponsorships. Ever.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first inbound sponsorship offer before M18, regardless of size.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becomes a counter-asset only if it stays editorially uncompromised.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9515475"/>
            <a:ext cx="36678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49 · PART VII — DEFENSIBILITY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OPTIONALITY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exit shapes.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the third.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757363" y="3177480"/>
            <a:ext cx="10891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3525" y="3810893"/>
            <a:ext cx="442786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bolt-on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33525" y="4534793"/>
            <a:ext cx="442786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$1.5–8M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33525" y="5830193"/>
            <a:ext cx="44278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larger media property buys the show + back-catalog + email list.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18313" y="3177480"/>
            <a:ext cx="108912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94475" y="3810893"/>
            <a:ext cx="442794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Founder-pairing acquihire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94475" y="4972943"/>
            <a:ext cx="442794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$4–12M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994475" y="6268343"/>
            <a:ext cx="44279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incumbent acquires the team + show as a brand-trust play.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65050" y="3163193"/>
            <a:ext cx="13806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3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455500" y="3782318"/>
            <a:ext cx="442786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Acquired-style independence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455500" y="4944368"/>
            <a:ext cx="4427867" cy="2333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0" i="1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$200–800K/yr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455500" y="7392293"/>
            <a:ext cx="44278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podcast revenue line. The walk-away we plan for.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515475"/>
            <a:ext cx="36731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49 · PART VII — DEFENSIBILITY</a:t>
            </a:r>
            <a:endParaRPr lang="en-US" sz="15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373" y="914400"/>
            <a:ext cx="3428627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VIII OF X · FINANCIALS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208716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eight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0846781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$756K Y3,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thirty percent.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~$78K more EBITDA AND ~6 hours per week less founder production time vs. v1, both from the podcast editor hire. The producer Who is the financial fulcrum.</a:t>
            </a:r>
            <a:endParaRPr 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→ YEAR 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scenarios. Same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shape.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664744"/>
            <a:ext cx="43949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82382" y="3664744"/>
            <a:ext cx="14353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REVENUE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8755" y="3664744"/>
            <a:ext cx="14789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Y2 REVENUE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58735" y="3664744"/>
            <a:ext cx="14786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REVENUE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8416" y="3664744"/>
            <a:ext cx="22632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FOUNDER DRAW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259595" y="3664744"/>
            <a:ext cx="27502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EBITDA MARGIN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4293394"/>
            <a:ext cx="439490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82382" y="4293394"/>
            <a:ext cx="1435373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~$120K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898755" y="4293394"/>
            <a:ext cx="1478979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~$220K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58735" y="4293394"/>
            <a:ext cx="1478682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~$320K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618416" y="4293394"/>
            <a:ext cx="226321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~$180K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259595" y="4293394"/>
            <a:ext cx="2750225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71600" y="5090592"/>
            <a:ext cx="4394906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082382" y="5090592"/>
            <a:ext cx="1435373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~$300K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98755" y="5090592"/>
            <a:ext cx="1478979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~$490K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58735" y="5090592"/>
            <a:ext cx="1478682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$756K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618416" y="5090592"/>
            <a:ext cx="2263214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$288K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259595" y="5090592"/>
            <a:ext cx="2750225" cy="478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· $224K EBITDA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71600" y="5883027"/>
            <a:ext cx="4394906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· incl. SaaS spinoff Y2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082382" y="5883027"/>
            <a:ext cx="1435373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~$520K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898755" y="5883027"/>
            <a:ext cx="1478979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~$920K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58735" y="5883027"/>
            <a:ext cx="1478682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~$1.5M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1618416" y="5883027"/>
            <a:ext cx="2263214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~$420K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259595" y="5883027"/>
            <a:ext cx="2750225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24000" y="8267700"/>
            <a:ext cx="157200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needs $45K reserve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(Y2 EBITDA goes from +$400 to −$14,700 with podcast tax). OR defer the editor to Y3. </a:t>
            </a:r>
            <a:pPr algn="l" indent="0" marL="0">
              <a:lnSpc>
                <a:spcPct val="150000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outside capital in any scenario.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43000" y="9515475"/>
            <a:ext cx="34739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49 · PART VIII — FINANCIALS</a:t>
            </a:r>
            <a:endParaRPr lang="en-US" sz="15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COST REALITY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1482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implicitly assumed founder podcast hours were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billable.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aren't.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4528245"/>
            <a:ext cx="7966329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i="1" spc="-16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 hrs/wk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143000" y="5695057"/>
            <a:ext cx="5297805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block on DIY production, observed from the actual 5-episode pipeline (60% Matt / 40% Mel).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7119863"/>
            <a:ext cx="7966329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producer hire — fractional podcast editor at $2,500/mo from M4–6 — is the financial fulcrum of v2. It's why Y3 EBITDA goes UP $78K despite Y3 revenue going up only $144K.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01225" y="4118074"/>
            <a:ext cx="71618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reality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801225" y="4689574"/>
            <a:ext cx="716184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niche-business CPMs ($25–55), need ~3K downloads/ep for $1K MRR and ~10K for $5K MRR. Y1 sponsorship is essentially zero in conservative/base. Aggressive case requires a single direct-sold $6K/mo partner from month 9.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7137499"/>
            <a:ext cx="72043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Lead-gen dominates sponsorship at every realistic scale through Y3.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attributable retainer/mo at $3K = $36K ARR / ~$90K LTV — equivalent to ~9 months of sponsorship at any realistic audience.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9515475"/>
            <a:ext cx="34522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49 · PART VIII — FINANCIALS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— TOP 4 LEVERS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moves Year-3 EBITDA, in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772668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019300" y="3129855"/>
            <a:ext cx="334171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 wins per month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019300" y="3527003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of the funnel. Everything else is leverage on this.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046053" y="2953643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±$72K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4606156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019300" y="4963344"/>
            <a:ext cx="178258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price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019300" y="5360491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 / $2,500 / $3,000 spread, weighted by hospitality vs. services mix.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046053" y="4787131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±$54K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43000" y="6439644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019300" y="6796832"/>
            <a:ext cx="53429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Podcast-attributable retainers · NEW IN v2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19300" y="7193979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±1σ swing on this single line. Why we track it weekly.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046053" y="6620619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±$48K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43000" y="8273132"/>
            <a:ext cx="64770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4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019300" y="8630320"/>
            <a:ext cx="82368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19300" y="9027468"/>
            <a:ext cx="1413361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year retainer life is the base assumption.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046053" y="8454107"/>
            <a:ext cx="117514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±$36K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43000" y="9515475"/>
            <a:ext cx="34711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49 · PART VIII — FINANCIALS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NUMBER TO TRACK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727573"/>
            <a:ext cx="5118069" cy="3060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600" spc="-6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wins attributable to the </a:t>
            </a:r>
            <a:pPr algn="l" indent="0" marL="0">
              <a:lnSpc>
                <a:spcPct val="120000"/>
              </a:lnSpc>
              <a:buNone/>
            </a:pPr>
            <a:r>
              <a:rPr lang="en-US" sz="6600" i="1" spc="-6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podcast.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6511677"/>
            <a:ext cx="70833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BY MONTH 12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6959352"/>
            <a:ext cx="70833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Passion project. Brand investment, not a lead engine.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53450" y="6511677"/>
            <a:ext cx="70833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BY MONTH 12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53450" y="6959352"/>
            <a:ext cx="708336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channel. Invest. Decide everything else from this signal.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9515475"/>
            <a:ext cx="34685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49 · PART VIII — FINANCIALS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00248" y="914400"/>
            <a:ext cx="3244752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IX OF X · EXECUTION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883694"/>
            <a:ext cx="197398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nine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3740944"/>
            <a:ext cx="13657637" cy="1566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days.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5803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named outbound conversations. 5–7 booked Calendly calls. 2 paid sprints. 1–2 retainers signed. Podcast at 4×/week with audio editor + fractional producer landed.</a:t>
            </a:r>
            <a:endParaRPr lang="en-US" sz="3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90 DAYS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Week-by-week.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filler.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486918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3000" y="2891730"/>
            <a:ext cx="796632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Mel: 25 named hospitality contacts. Matt: 8 eng peers. Ship homepage with 3 starter offerings + anti-sales CTA. Cold-open re-cut to 12-sec Mel-led.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687961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43000" y="4092773"/>
            <a:ext cx="7966329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GBP claimed. First 5 emails per founder. Calendly tightened to 30-min cap. Podcast at 4×/wk + Friday short.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$1 booked.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4893766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43000" y="5298579"/>
            <a:ext cx="796632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sample-build Loom. Audio editor onboarded. Two bookkeeper partnership conversations. Newsletter recap goes live.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410700" y="2486918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5–8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410700" y="2891730"/>
            <a:ext cx="7966329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Menu &amp; Reviews Sprint sold (target: wk 5–6). Fractional podcast editor onboarded —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hire.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case studies forming.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10700" y="3692723"/>
            <a:ext cx="796632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50" b="1" spc="-1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9–12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10700" y="4097536"/>
            <a:ext cx="7966329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Operations Retainer signed (~$1.5–3K/mo MRR). First Friday operator-guest interview. WikiFold v2 scoping. First case study published.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77400" y="5103316"/>
            <a:ext cx="743292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Decision-point at day 90: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funnel real? If yes, set quarterly cadence. If no, audit the offer.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9515475"/>
            <a:ext cx="32347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49 · PART IX — EXECUTION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12 MONTHS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by quarter,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Q2 2027.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945160"/>
            <a:ext cx="109202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844626" y="2945160"/>
            <a:ext cx="181510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TARGET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40734" y="2945160"/>
            <a:ext cx="782736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INITIATIVE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084001" y="2945160"/>
            <a:ext cx="396108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888135"/>
            <a:ext cx="1092026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844626" y="3888135"/>
            <a:ext cx="1815108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$40–80K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040734" y="3888135"/>
            <a:ext cx="7827365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offers shipping. First 2–3 retainers. Podcast at 4×/wk with full editor.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084001" y="3888135"/>
            <a:ext cx="3961087" cy="86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· audio editor · podcast editor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71600" y="5062538"/>
            <a:ext cx="1092026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844626" y="5062538"/>
            <a:ext cx="1815108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$80–120K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040734" y="5062538"/>
            <a:ext cx="782736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vertical authority assets shipping (case studies, audiograms).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084001" y="5062538"/>
            <a:ext cx="3961087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1600" y="6232178"/>
            <a:ext cx="1092026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844626" y="6232178"/>
            <a:ext cx="1815108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$100–150K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040734" y="6232178"/>
            <a:ext cx="7827365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"Augmentation Lens" framework named on-air. First podcast-attributable retainer wins.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084001" y="6232178"/>
            <a:ext cx="3961087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/ PM coordinator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71600" y="7401818"/>
            <a:ext cx="1092026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2844626" y="7401818"/>
            <a:ext cx="1815108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$120–180K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040734" y="7401818"/>
            <a:ext cx="782736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v2 (productizable) scoped. Podcast at ≥1.5K listeners/ep.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084001" y="7401818"/>
            <a:ext cx="3961087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associate (conditional)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43000" y="8654504"/>
            <a:ext cx="1471612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Year 1 base case ceiling: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~$300K revenue · 8–12 clients · 3 fractional hires running · productized offer + retainer engine humming · podcast at 1.2–1.5K listeners/ep · ready for Path C commit-or-defer decision.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43000" y="9515475"/>
            <a:ext cx="328414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49 · PART IX — EXECUTION</a:t>
            </a:r>
            <a:endParaRPr lang="en-US" sz="15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TRIGGERS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Pre-committed answers at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M6, M12, M18, M24.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505968"/>
            <a:ext cx="4308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83457" y="2505968"/>
            <a:ext cx="28796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23074" y="2505968"/>
            <a:ext cx="18810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5112" y="2505968"/>
            <a:ext cx="10397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3134618"/>
            <a:ext cx="430857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183457" y="3134618"/>
            <a:ext cx="2879605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Warm-referral leads &gt;12/mo?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23074" y="3134618"/>
            <a:ext cx="1881039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85112" y="3134618"/>
            <a:ext cx="1039788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offer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71600" y="3774653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83457" y="3774653"/>
            <a:ext cx="2879605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productized clients live + 1 retainer signed?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23074" y="3774653"/>
            <a:ext cx="188103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85112" y="3774653"/>
            <a:ext cx="103978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Hold, fix funnel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4692774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83457" y="4692774"/>
            <a:ext cx="2879605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editor landed, founder hrs &lt;8/wk?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23074" y="4692774"/>
            <a:ext cx="188103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daily-ish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85112" y="4692774"/>
            <a:ext cx="103978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to weekly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5610895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183457" y="5610895"/>
            <a:ext cx="2879605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MRR &gt;$15K/mo?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23074" y="5610895"/>
            <a:ext cx="188103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ops Who, commit Path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5112" y="5610895"/>
            <a:ext cx="103978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ops hire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1600" y="6529015"/>
            <a:ext cx="430857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183457" y="6529015"/>
            <a:ext cx="2879605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retainers ≥2 + listeners ≥5K?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23074" y="6529015"/>
            <a:ext cx="1881039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channel, invest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685112" y="6529015"/>
            <a:ext cx="1039788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only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39300" y="2505968"/>
            <a:ext cx="4308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451157" y="2505968"/>
            <a:ext cx="27419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557126" y="2505968"/>
            <a:ext cx="18666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804728" y="2505968"/>
            <a:ext cx="11878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39300" y="3134618"/>
            <a:ext cx="430857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451157" y="3134618"/>
            <a:ext cx="2741948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v2 (productizable) scoped?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557126" y="3134618"/>
            <a:ext cx="186660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Path C planning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5804728" y="3134618"/>
            <a:ext cx="118787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C to Y3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39300" y="4057501"/>
            <a:ext cx="430857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451157" y="4057501"/>
            <a:ext cx="2741948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&lt;$15K AND listeners &lt;5K?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3557126" y="4057501"/>
            <a:ext cx="186660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podcast.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5804728" y="4057501"/>
            <a:ext cx="118787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639300" y="4692774"/>
            <a:ext cx="430857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451157" y="4692774"/>
            <a:ext cx="2741948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sponsorship offer arrived?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3557126" y="4692774"/>
            <a:ext cx="186660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if before M18.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5804728" y="4692774"/>
            <a:ext cx="1187872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639300" y="5328047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51157" y="5328047"/>
            <a:ext cx="274194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v2 launch as 4–6 episodes?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3557126" y="5328047"/>
            <a:ext cx="186660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5804728" y="5328047"/>
            <a:ext cx="118787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 C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639300" y="6246168"/>
            <a:ext cx="430857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0451157" y="6246168"/>
            <a:ext cx="2741948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C MRR &gt;$5K/mo?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3557126" y="6246168"/>
            <a:ext cx="186660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Path C investment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5804728" y="6246168"/>
            <a:ext cx="1187872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A, defer C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9639300" y="7164288"/>
            <a:ext cx="430857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0451157" y="7164288"/>
            <a:ext cx="2741948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vertical authority real?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3557126" y="7164288"/>
            <a:ext cx="186660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vertical positioning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5804728" y="7164288"/>
            <a:ext cx="1187872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Re-broaden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143000" y="9515475"/>
            <a:ext cx="32878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49 · PART IX — EXECUTION</a:t>
            </a:r>
            <a:endParaRPr lang="en-US" sz="1500" dirty="0"/>
          </a:p>
        </p:txBody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HONEST GAPS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this plan.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485900" y="2639318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cannibalization risk.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daily podcasts die inside 18 months. The kill criterion at M12 is real.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85900" y="3639443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conditions must all hold.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position narrows · format chemistry holds · founder hours &lt;8/wk · newsletter capture works.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85900" y="5053905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keep alive simultaneously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consulting + podcast + WikiFold — is harder than two. The fractional Whos are non-optional.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753600" y="2639318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temptation.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inbound offer probably arrives before audience quality justifies it. Refuse before M18 regardless of size.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753600" y="4053780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Mel-as-public-face is load-bearing.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Audiograms, "Friday operator-guest" interviews, vertical authority — all assume Mel is comfortable being publicly visible.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753600" y="5468243"/>
            <a:ext cx="762342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commoditization (24–36 mo)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mitigated by editorial archive, not eliminated.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753600" y="6468368"/>
            <a:ext cx="7623429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SaaS bundling (24–36 mo)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 by independence-as-IP — strict no-platform-incumbent-sponsorship rule.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515475"/>
            <a:ext cx="32931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49 · PART IX — EXECUTION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07440" y="914400"/>
            <a:ext cx="3937560" cy="3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5000"/>
              </a:lnSpc>
              <a:buNone/>
            </a:pPr>
            <a:r>
              <a:rPr lang="en-US" sz="1650" spc="13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X OF X · OPEN QUESTIONS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121694"/>
            <a:ext cx="17827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3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Part 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2978944"/>
            <a:ext cx="16482060" cy="3090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Seventeen </a:t>
            </a:r>
            <a:pPr algn="l" indent="0" marL="0">
              <a:lnSpc>
                <a:spcPct val="100000"/>
              </a:lnSpc>
              <a:buNone/>
            </a:pPr>
            <a:r>
              <a:rPr lang="en-US" sz="12000" i="1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pPr algn="l" indent="0" marL="0">
              <a:lnSpc>
                <a:spcPct val="100000"/>
              </a:lnSpc>
              <a:buNone/>
            </a:pPr>
            <a:r>
              <a:rPr lang="en-US" sz="12000" spc="-2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questions.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6565106"/>
            <a:ext cx="1275397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need decisions before the first ninety days fully ships. Ten survived from v1; seven are new in v2 (podcast and starter services). The next move is the founders'.</a:t>
            </a:r>
            <a:endParaRPr lang="en-US" sz="3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· 10 FROM V1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</a:t>
            </a:r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founders' desk.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43100" y="2710755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commit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943100" y="3033638"/>
            <a:ext cx="714222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prices live-publishable, including the new $1,500/mo Hospitality Operations Retainer?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943100" y="405757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named venues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43100" y="438045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names, LinkedIn-verifiable.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43100" y="509007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Matt's named prior companies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943100" y="5412953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names.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43100" y="612256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Mel's LinkedIn URL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943100" y="644544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team section + handoffs.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43100" y="715506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lock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943100" y="7477944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C confirmed?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210800" y="2710755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Mel-as-marketing-lead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10800" y="303363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audiograms + Friday-guest interviews?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210800" y="374325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productization commitment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10800" y="4066133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8–16 hrs/week starting Q1 2027?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210800" y="477574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commitment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210800" y="5098628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Probably resolved because the podcast unblocks the recap. Reconfirm.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10800" y="5808241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fractional Who timing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210800" y="6131123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Q3 2026 + audio editor M3 + podcast editor M4–6.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210800" y="6840736"/>
            <a:ext cx="7142226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50" b="1" spc="-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Disqualification language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0210800" y="7163619"/>
            <a:ext cx="71422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Strict-rule vs. default?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43000" y="9515475"/>
            <a:ext cx="388360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49 · PART X — OPEN QUESTIONS</a:t>
            </a:r>
            <a:endParaRPr lang="en-US" sz="15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 · 7 NEW IN V2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+ starter-service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43100" y="2510730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commit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43100" y="2986980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4×/week (Mon–Thu) + Friday short, or hold daily? </a:t>
            </a:r>
            <a:pPr algn="l" indent="0" marL="0">
              <a:lnSpc>
                <a:spcPct val="150000"/>
              </a:lnSpc>
              <a:buNone/>
            </a:pPr>
            <a:r>
              <a:rPr lang="en-US" sz="18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4×/week.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943100" y="3629918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framework name lock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43100" y="4106168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Augmentation Lens · The Three-Question Test ·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else? Without a named frame, the editorial position stays copyable.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943100" y="4749105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ritual lock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43100" y="5225355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"Good vibes only" OK as the closing line? Lock for 8 weeks for habit-formation.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43100" y="5868293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Podcast editor budget commit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43100" y="6344543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$2,500/mo from M4–6.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Non-optional.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43100" y="6987480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First-five hospitality customers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43100" y="7463730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names, not just neighborhoods. Mel's network list from week 1.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943100" y="8106668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SB-68 angle yes/no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43100" y="8582918"/>
            <a:ext cx="156579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Restaurant Menu &amp; Reviews Sprint lean into the July 2026 allergen-disclosure law as the headline pitch?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943100" y="9225855"/>
            <a:ext cx="156579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WikiFold launch arc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943100" y="9702105"/>
            <a:ext cx="1565795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episode arc at M12–18 — execute?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9515475"/>
            <a:ext cx="38645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49 · PART X — OPEN QUESTIONS</a:t>
            </a:r>
            <a:endParaRPr lang="en-US" sz="15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457325"/>
            <a:ext cx="14716125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</a:t>
            </a:r>
            <a:pPr algn="l" indent="0" marL="0">
              <a:lnSpc>
                <a:spcPct val="105000"/>
              </a:lnSpc>
              <a:buNone/>
            </a:pPr>
            <a:r>
              <a:rPr lang="en-US" sz="5400" i="1" spc="-8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v1.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2582168"/>
            <a:ext cx="3323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41776" y="2582168"/>
            <a:ext cx="52630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95372" y="2582168"/>
            <a:ext cx="65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210818"/>
            <a:ext cx="3323081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Path 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41776" y="3210818"/>
            <a:ext cx="5263004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$300K–800K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595372" y="3210818"/>
            <a:ext cx="6524375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$700K–1.4M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3850853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Walk-away Path 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41776" y="3850853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$8M–40M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95372" y="3850853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$14M–55M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71600" y="4486126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base revenue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41776" y="4486126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$612K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95372" y="4486126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$756K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71600" y="5121399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EBITDA margin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41776" y="5121399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95372" y="5121399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— net +$78K EBITDA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71600" y="5756672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 Whos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41776" y="5756672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/ ops PM / content editor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595372" y="5756672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bookkeeper / audio editor / podcast editor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71600" y="6391945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menu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41776" y="6391945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SKUs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95372" y="6391945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SKUs (3 starters added)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71600" y="7027218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$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41776" y="7027218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5–6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595372" y="7027218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7662490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podcast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41776" y="7662490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spots on others' shows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595372" y="7662490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podcast at #4 + newsletter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371600" y="8297763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41776" y="8297763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on Matt commit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595372" y="8297763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unblocked by daily research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71600" y="8933036"/>
            <a:ext cx="3323081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41776" y="8933036"/>
            <a:ext cx="5263004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595372" y="8933036"/>
            <a:ext cx="6524375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4×/week + Friday short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371600" y="9568309"/>
            <a:ext cx="3323081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guidance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41776" y="9568309"/>
            <a:ext cx="5263004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mentioned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595372" y="9568309"/>
            <a:ext cx="6524375" cy="32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before M18 regardless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143000" y="9515475"/>
            <a:ext cx="38808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49 · PART X — OPEN QUESTIONS</a:t>
            </a:r>
            <a:endParaRPr lang="en-US" sz="15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965945"/>
            <a:ext cx="164820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231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POSTURE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2585070"/>
            <a:ext cx="16482060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700" spc="-5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plan is opinionated </a:t>
            </a:r>
            <a:pPr algn="l" indent="0" marL="0">
              <a:lnSpc>
                <a:spcPct val="120000"/>
              </a:lnSpc>
              <a:buNone/>
            </a:pPr>
            <a:r>
              <a:rPr lang="en-US" sz="5700" i="1" spc="-5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42975" y="4215705"/>
            <a:ext cx="7972425" cy="2452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A → C with podcast as a co-equal asset alongside WikiFold.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Productized + retainer pricing, three starter sprints at the front of the funnel.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4×/week podcast over daily.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248775" y="4215705"/>
            <a:ext cx="7972425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hire named: fractional podcast editor at M4–6.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kill criterion named: M12 listener + retainer threshold.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seventeen open questions in §14 unblock the first ninety days.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43000" y="7806630"/>
            <a:ext cx="164820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move is the founders'.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143000" y="9515475"/>
            <a:ext cx="19379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49 · CLOSING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52637" y="9539288"/>
            <a:ext cx="26670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52687" y="9548813"/>
            <a:ext cx="22685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500" spc="1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VIBES CODING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2026-04-30T20:50:41Z</dcterms:created>
  <dcterms:modified xsi:type="dcterms:W3CDTF">2026-04-30T20:50:41Z</dcterms:modified>
</cp:coreProperties>
</file>