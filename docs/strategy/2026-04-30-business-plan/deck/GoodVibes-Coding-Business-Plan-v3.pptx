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6"/>
    <p:sldId id="306" r:id="rId57"/>
    <p:sldId id="307" r:id="rId58"/>
  </p:sldIdLst>
  <p:notesMasterIdLst>
    <p:notesMasterId r:id="rId5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295400"/>
            <a:ext cx="838200" cy="838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26670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— FOUNDERS' REFERENCE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1143000" y="3514725"/>
            <a:ext cx="16482060" cy="1562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600" spc="-3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plan, v3.</a:t>
            </a:r>
            <a:pPr algn="l" indent="0" marL="0">
              <a:lnSpc>
                <a:spcPct val="95000"/>
              </a:lnSpc>
              <a:buNone/>
            </a:pPr>
            <a:endParaRPr lang="en-US" sz="12600" dirty="0"/>
          </a:p>
        </p:txBody>
      </p:sp>
      <p:sp>
        <p:nvSpPr>
          <p:cNvPr id="5" name="Text 2"/>
          <p:cNvSpPr/>
          <p:nvPr/>
        </p:nvSpPr>
        <p:spPr>
          <a:xfrm>
            <a:off x="1143000" y="5649218"/>
            <a:ext cx="12753975" cy="1735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Cold-acquisition pivot. Path A only — productized 2-person, no SaaS spinoff. Two geographies — Palm Beach + Poconos. Three lower-ticket starter offerings ($750 / $1,500 / $1,800). Workshops + GBP + podcast as the cold-acquisition stack. Seven open questions that unblock the first thirty days.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1143000" y="8995470"/>
            <a:ext cx="5263161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 · MATT &amp; MELISSA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283383" y="8995470"/>
            <a:ext cx="1937817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30,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plan,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page.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715518"/>
            <a:ext cx="796632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3267968"/>
            <a:ext cx="7966329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2-person and productize (Path A only). Three cold-conversion starters that ladder to recurring retainers. WikiFold stays free as proof of capability. Cold acquisition driven by local SEO + workshops + owned podcast. No spinoff. No outside capital.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5401568"/>
            <a:ext cx="796632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v3 changed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5954018"/>
            <a:ext cx="7966329" cy="1871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acquisition replaces the warm-referral primary motion. Path C (WikiFold spinoff) is dropped. Two explicit geographies — Palm Beach + Poconos. Lower starter prices match the cold-conversion ceiling. Workshop circuit becomes channel #2.</a:t>
            </a:r>
            <a:pPr algn="l" indent="0" marL="0">
              <a:lnSpc>
                <a:spcPct val="150000"/>
              </a:lnSpc>
              <a:buNone/>
            </a:pPr>
            <a:pPr algn="l" indent="0" marL="0">
              <a:lnSpc>
                <a:spcPct val="150000"/>
              </a:lnSpc>
              <a:buNone/>
            </a:pP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8092380"/>
            <a:ext cx="796632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Year-3 base case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43000" y="8644830"/>
            <a:ext cx="7966329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 base $612K · $288K combined draws · 30% margin · ~33-hour weeks. Y1 base ~$510K (workshop sprint volume layers on top of recurring revenue).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801225" y="3067943"/>
            <a:ext cx="716184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Walk-away values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029825" y="3810893"/>
            <a:ext cx="4189646" cy="379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A · Productized 2-person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541326" y="3810893"/>
            <a:ext cx="2060749" cy="379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$700K – 1.4M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0029825" y="4504283"/>
            <a:ext cx="4189646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C · Y3+ optionality only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4541326" y="4504283"/>
            <a:ext cx="2060749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$14M – 55M only if WikiFold productizes later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029825" y="5202436"/>
            <a:ext cx="4189646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B · Boutique hire-up (rejected)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4541326" y="5202436"/>
            <a:ext cx="2060749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$1.8M – 3M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0029825" y="5900589"/>
            <a:ext cx="4189646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D · Methodology license (deferred Y3+)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4541326" y="5900589"/>
            <a:ext cx="2060749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$3M – 18M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791700" y="7384554"/>
            <a:ext cx="7204329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$20K MRR by month 9–10 base case. Workshop conversion + sprint→retainer rate are the two levers.</a:t>
            </a:r>
            <a:pPr algn="l" indent="0" marL="0">
              <a:lnSpc>
                <a:spcPct val="150000"/>
              </a:lnSpc>
              <a:buNone/>
            </a:pPr>
            <a:pPr algn="l" indent="0" marL="0">
              <a:lnSpc>
                <a:spcPct val="150000"/>
              </a:lnSpc>
              <a:buNone/>
            </a:pP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143000" y="9515475"/>
            <a:ext cx="325762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52 · EXECUTIVE SUMMARY</a:t>
            </a:r>
            <a:endParaRPr lang="en-US" sz="15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594830" y="914400"/>
            <a:ext cx="2550170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5000"/>
              </a:lnSpc>
              <a:buNone/>
            </a:pPr>
            <a:r>
              <a:rPr lang="en-US" sz="1650" spc="13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 OF X · THESIS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121694"/>
            <a:ext cx="1853952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Part 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2978944"/>
            <a:ext cx="8920654" cy="3090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lnSpc>
                <a:spcPct val="100000"/>
              </a:lnSpc>
              <a:buNone/>
            </a:pPr>
            <a:r>
              <a:rPr lang="en-US" sz="12000" i="1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thesis, </a:t>
            </a:r>
            <a:pPr algn="l" indent="0" marL="0">
              <a:lnSpc>
                <a:spcPct val="100000"/>
              </a:lnSpc>
              <a:buNone/>
            </a:pPr>
            <a:r>
              <a:rPr lang="en-US" sz="12000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validated.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6565106"/>
            <a:ext cx="12753975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Cuban's April 2026 call still holds. The opportunity is the AI implementation layer for US small businesses that won't have AI budgets or in-house experts.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THESIS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1482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US-only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</a:t>
            </a:r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$20–45B today, $60–110B by 2028.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4894436"/>
            <a:ext cx="5258562" cy="1090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0" i="1" spc="-16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36.2M</a:t>
            </a:r>
            <a:endParaRPr lang="en-US" sz="8250" dirty="0"/>
          </a:p>
        </p:txBody>
      </p:sp>
      <p:sp>
        <p:nvSpPr>
          <p:cNvPr id="5" name="Text 3"/>
          <p:cNvSpPr/>
          <p:nvPr/>
        </p:nvSpPr>
        <p:spPr>
          <a:xfrm>
            <a:off x="952500" y="6061249"/>
            <a:ext cx="353187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US small &amp; medium businesses (SBA, 2025).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91300" y="4894436"/>
            <a:ext cx="5258562" cy="1090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0" i="1" spc="-16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3–5M</a:t>
            </a:r>
            <a:endParaRPr lang="en-US" sz="8250" dirty="0"/>
          </a:p>
        </p:txBody>
      </p:sp>
      <p:sp>
        <p:nvSpPr>
          <p:cNvPr id="7" name="Text 5"/>
          <p:cNvSpPr/>
          <p:nvPr/>
        </p:nvSpPr>
        <p:spPr>
          <a:xfrm>
            <a:off x="6591300" y="6061249"/>
            <a:ext cx="3531870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Convertible buyer pool — employer firms with $200K–$5M revenue.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230100" y="4894436"/>
            <a:ext cx="5258562" cy="1090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0" i="1" spc="-16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 / 14</a:t>
            </a:r>
            <a:endParaRPr lang="en-US" sz="8250" dirty="0"/>
          </a:p>
        </p:txBody>
      </p:sp>
      <p:sp>
        <p:nvSpPr>
          <p:cNvPr id="9" name="Text 7"/>
          <p:cNvSpPr/>
          <p:nvPr/>
        </p:nvSpPr>
        <p:spPr>
          <a:xfrm>
            <a:off x="12230100" y="6061249"/>
            <a:ext cx="3531870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 claiming AI use vs. percent with it integrated. The empirical leg of the thesis.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9013552"/>
            <a:ext cx="14716125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01-thesis-validation.md, 03-market-sizing.md. Goldman Sachs 10KSB, Feb 2026; SBA Office of Advocacy 2025.</a:t>
            </a:r>
            <a:pPr algn="l" indent="0" marL="0">
              <a:lnSpc>
                <a:spcPct val="145000"/>
              </a:lnSpc>
              <a:buNone/>
            </a:pPr>
            <a:pPr algn="l" indent="0" marL="0">
              <a:lnSpc>
                <a:spcPct val="145000"/>
              </a:lnSpc>
              <a:buNone/>
            </a:pPr>
            <a:pPr algn="l" indent="0" marL="0">
              <a:lnSpc>
                <a:spcPct val="145000"/>
              </a:lnSpc>
              <a:buNone/>
            </a:pPr>
            <a:pPr algn="l" indent="0" marL="0">
              <a:lnSpc>
                <a:spcPct val="145000"/>
              </a:lnSpc>
              <a:buNone/>
            </a:pP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43000" y="9515475"/>
            <a:ext cx="26901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52 · PART I — THESIS</a:t>
            </a:r>
            <a:endParaRPr lang="en-US" sz="15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1487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small businesses have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downloaded the app </a:t>
            </a:r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and not read the manual.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3826222"/>
            <a:ext cx="7966329" cy="2026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76% claim-use / 14% integrated gap is the single strongest empirical leg of the thesis. Owners have signed up. They have not redesigned how the work gets done.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43000" y="6081564"/>
            <a:ext cx="796632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gap is what we sell into — not "buy more AI," but "make the AI you already pay for actually do the work."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24000" y="7481739"/>
            <a:ext cx="7204329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for every sales conversation: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fire your staff with AI. We give the people you already trust new tools.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801350" y="4651474"/>
            <a:ext cx="1521693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AI use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686731" y="4318099"/>
            <a:ext cx="1143819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4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0801350" y="6617419"/>
            <a:ext cx="3168719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into operations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686731" y="6284044"/>
            <a:ext cx="1143819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4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470380" y="8135689"/>
            <a:ext cx="7843388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Goldman Sachs 10KSB AI Survey, Feb 2026. n = 1,200 SMB owners.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43000" y="9515475"/>
            <a:ext cx="268921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52 · PART I — THESIS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SIZING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1487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$72B · SAM $5.2B ·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SOM grows founder-bound.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3656707"/>
            <a:ext cx="32759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996011" y="3656707"/>
            <a:ext cx="17470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24030" y="3656707"/>
            <a:ext cx="1809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14780" y="3656707"/>
            <a:ext cx="174225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8037" y="3656707"/>
            <a:ext cx="56564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4285357"/>
            <a:ext cx="3275944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996011" y="4285357"/>
            <a:ext cx="1747019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124030" y="4285357"/>
            <a:ext cx="1809750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314780" y="4285357"/>
            <a:ext cx="1742256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438037" y="4285357"/>
            <a:ext cx="5656430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5–6 person firm by Y5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1600" y="5082555"/>
            <a:ext cx="3275944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996011" y="5082555"/>
            <a:ext cx="1747019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$180K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124030" y="5082555"/>
            <a:ext cx="1809750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$720K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314780" y="5082555"/>
            <a:ext cx="1742256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$1.8M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438037" y="5082555"/>
            <a:ext cx="5656430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base scenario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71600" y="5874990"/>
            <a:ext cx="3275944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ARPU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996011" y="5874990"/>
            <a:ext cx="1747019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$22K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124030" y="5874990"/>
            <a:ext cx="1809750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$26K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314780" y="5874990"/>
            <a:ext cx="1742256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$30K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1438037" y="5874990"/>
            <a:ext cx="5656430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Productized + retainer mix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371600" y="6667426"/>
            <a:ext cx="3275944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4996011" y="6667426"/>
            <a:ext cx="1747019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124030" y="6667426"/>
            <a:ext cx="1809750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$65K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314780" y="6667426"/>
            <a:ext cx="1742256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$65K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1438037" y="6667426"/>
            <a:ext cx="5656430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year retainer life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371600" y="7459861"/>
            <a:ext cx="3275944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ceiling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4996011" y="7459861"/>
            <a:ext cx="6178086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hours, not market reach.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1438037" y="7459861"/>
            <a:ext cx="5656430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 does not move this.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143000" y="8654504"/>
            <a:ext cx="16482060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Hospitality + regional service businesses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the segment-fit table. The capacity ceiling is the load-bearing constraint, which is why the path is "productize, then spin a product."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143000" y="9515475"/>
            <a:ext cx="26924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52 · PART I — THESIS</a:t>
            </a:r>
            <a:endParaRPr lang="en-US" sz="150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CLOCK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1482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Commoditization is real, and it's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24–36 months out.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533525" y="3711773"/>
            <a:ext cx="716184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structural threats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76425" y="4454723"/>
            <a:ext cx="6818948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evolution.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"ask the AI to do it" is built into every SaaS product, the implementation layer thins.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876425" y="5869186"/>
            <a:ext cx="6818948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SaaS bundling.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Toast, ServiceTitan, Mindbody bundle AI features into existing subscriptions. Our work becomes a free feature of their product.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801225" y="3711773"/>
            <a:ext cx="716184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partially mitigates it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144125" y="4454723"/>
            <a:ext cx="6818948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Editorial-archive moat.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episodes of plain-language receipts is a counter-asset Toast can't match through the same channel.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144125" y="5869186"/>
            <a:ext cx="6818948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Independence as IP.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no-platform-incumbent-sponsorship rule on the podcast preserves credibility.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0144125" y="7283648"/>
            <a:ext cx="6818948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authority.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Mel's hospitality network is not a feature flag.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43000" y="9515475"/>
            <a:ext cx="267120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52 · PART I — THESIS</a:t>
            </a:r>
            <a:endParaRPr lang="en-US" sz="15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34973" y="914400"/>
            <a:ext cx="4810027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5000"/>
              </a:lnSpc>
              <a:buNone/>
            </a:pPr>
            <a:r>
              <a:rPr lang="en-US" sz="1650" spc="13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 OF X · OPERATING PHILOSOPHY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388394"/>
            <a:ext cx="189398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Part two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3245644"/>
            <a:ext cx="16482060" cy="3090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Sullivan / Hardy </a:t>
            </a:r>
            <a:pPr algn="l" indent="0" marL="0">
              <a:lnSpc>
                <a:spcPct val="100000"/>
              </a:lnSpc>
              <a:buNone/>
            </a:pPr>
            <a:r>
              <a:rPr lang="en-US" sz="12000" i="1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compatible.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6831806"/>
            <a:ext cx="12753975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founders' Unique Abilities stay intact. The 10x trajectory definition stays intact. The first three Whos resequence around the podcast.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ABILITIES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instinct + curious-listener voice. Poconos field credibility.</a:t>
            </a:r>
            <a:pPr algn="l" indent="0" marL="0">
              <a:lnSpc>
                <a:spcPct val="105000"/>
              </a:lnSpc>
              <a:buNone/>
            </a:pPr>
            <a:pPr algn="l" indent="0" marL="0">
              <a:lnSpc>
                <a:spcPct val="105000"/>
              </a:lnSpc>
              <a:buNone/>
            </a:pP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533525" y="2991743"/>
            <a:ext cx="716184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27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MATT'S UA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33525" y="3572768"/>
            <a:ext cx="7161848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spc="-3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judgment + plain-language explanation.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533525" y="4704308"/>
            <a:ext cx="7161848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technical decisions that make a small business's AI implementation actually work — and the ability to explain those decisions to an owner who didn't go to college.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533525" y="6028283"/>
            <a:ext cx="716184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Keep: editorial point of view, lead/main scripts, plain-language drafting, job-fear reframing on-air.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801225" y="2991743"/>
            <a:ext cx="716184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27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MEL'S UA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801225" y="3572768"/>
            <a:ext cx="7161848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spc="-3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instinct + curious-listener voice.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9801225" y="4704308"/>
            <a:ext cx="7161848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Twenty years of running real venues, plus the emotional differentiator on the show — the question a normal person would ask, asked the way a normal person would ask it.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01225" y="6028283"/>
            <a:ext cx="716184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Keep: editorial picks, curious-listener question, human landing, monthly long-form interviews.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43000" y="9515475"/>
            <a:ext cx="463573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52 · PART II — OPERATING PHILOSOPHY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THREE WHOS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1482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cold-motion forces a resequence of who we hire first.</a:t>
            </a:r>
            <a:pPr algn="l" indent="0" marL="0">
              <a:lnSpc>
                <a:spcPct val="105000"/>
              </a:lnSpc>
              <a:buNone/>
            </a:pPr>
            <a:pPr algn="l" indent="0" marL="0">
              <a:lnSpc>
                <a:spcPct val="105000"/>
              </a:lnSpc>
              <a:buNone/>
            </a:pP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43100" y="3684687"/>
            <a:ext cx="1565795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Fractional bookkeeper / accountant — month 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43100" y="4179987"/>
            <a:ext cx="1565795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~$300–600/mo. Unchanged from v1. Removes the most chronic source of founder friction first.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943100" y="4918174"/>
            <a:ext cx="1565795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+ Ops VA — month 2–3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943100" y="5413474"/>
            <a:ext cx="1565795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~$2,500–3,000/mo. Pulls forward in v3. Owns workshop logistics + podcast distribution + direct-mail follow-up + lead tracking. Removes the multi-market admin load before it stalls the founders.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943100" y="6151662"/>
            <a:ext cx="1565795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Fractional podcast editor — month 6–9 (conditional)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943100" y="6646962"/>
            <a:ext cx="1565795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~$2,500/mo. Conditional on podcast pulling its weight. Skip entirely if M6 podcast-attributable leads are zero.</a:t>
            </a:r>
            <a:pPr algn="l" indent="0" marL="0">
              <a:lnSpc>
                <a:spcPct val="150000"/>
              </a:lnSpc>
              <a:buNone/>
            </a:pPr>
            <a:pPr algn="l" indent="0" marL="0">
              <a:lnSpc>
                <a:spcPct val="150000"/>
              </a:lnSpc>
              <a:buNone/>
            </a:pP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43100" y="7756624"/>
            <a:ext cx="1565795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Poconos field rep — month 12 (non-negotiable)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943100" y="8251924"/>
            <a:ext cx="1565795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$1,500/mo, part-time. Cold email scales to zero in the Poconos market. Without local presence, the pipeline collapses.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43000" y="9515475"/>
            <a:ext cx="457510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52 · PART II — OPERATING PHILOSOPHY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52108" y="914400"/>
            <a:ext cx="2992892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5000"/>
              </a:lnSpc>
              <a:buNone/>
            </a:pPr>
            <a:r>
              <a:rPr lang="en-US" sz="1650" spc="13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III OF X · THE PATH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121694"/>
            <a:ext cx="2102793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Part three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2978944"/>
            <a:ext cx="8205466" cy="3090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A only.</a:t>
            </a:r>
            <a:pPr algn="l" indent="0" marL="0">
              <a:lnSpc>
                <a:spcPct val="100000"/>
              </a:lnSpc>
              <a:buNone/>
            </a:pPr>
            <a:pPr algn="l" indent="0" marL="0">
              <a:lnSpc>
                <a:spcPct val="100000"/>
              </a:lnSpc>
              <a:buNone/>
            </a:pPr>
            <a:endParaRPr lang="en-US" sz="12000" dirty="0"/>
          </a:p>
          <a:p>
            <a:r>
              <a:t>Confirmed.</a:t>
            </a:r>
          </a:p>
        </p:txBody>
      </p:sp>
      <p:sp>
        <p:nvSpPr>
          <p:cNvPr id="5" name="Text 3"/>
          <p:cNvSpPr/>
          <p:nvPr/>
        </p:nvSpPr>
        <p:spPr>
          <a:xfrm>
            <a:off x="1143000" y="6565106"/>
            <a:ext cx="12753975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2-person and productize. WikiFold stays free as proof. Two geographies. Cold-acquisition stack. Paths B, C, D, E, F all evaluated and rejected as primary plan.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RECOMMENDED PATH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A — operator-led, 2-person, productized.</a:t>
            </a:r>
            <a:pPr algn="l" indent="0" marL="0">
              <a:lnSpc>
                <a:spcPct val="105000"/>
              </a:lnSpc>
              <a:buNone/>
            </a:pP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533525" y="3929509"/>
            <a:ext cx="680866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Productized 2-person · months 0–18+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533525" y="4862959"/>
            <a:ext cx="680866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cold-conversion starters → retainer ladder. Workshops + local SEO + owned podcast as the channel stack. Two geographies. Sub-$2K starter price band. Up-tier sprints unlocked once trust is earned in a market.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33525" y="5472559"/>
            <a:ext cx="680866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NOT doing · v3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24900" y="3538984"/>
            <a:ext cx="838200" cy="304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4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SaaS spinoff. WikiFold stays free as proof of capability. No multi-tier subscriptions. No outside capital. No equity / rev-share. No relocation. No cold outbound to Fortune 5000. Never lead with 'AI consulting'.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0144125" y="3929509"/>
            <a:ext cx="680866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(deferred)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10144125" y="4862959"/>
            <a:ext cx="680866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C — Y3+ optionality only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0144125" y="5472559"/>
            <a:ext cx="680866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WikiFold productization revisited only if customer demand signals at M24+. Walk-away $14–55M only if that productization happens — not in the primary plan.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3970" y="7234684"/>
            <a:ext cx="1572006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podcast sits across consulting and free-tools — distributing methodology IP, building audience, serving as the launch surface for any future productization decision.</a:t>
            </a:r>
            <a:pPr algn="ctr" indent="0" marL="0">
              <a:lnSpc>
                <a:spcPct val="150000"/>
              </a:lnSpc>
              <a:buNone/>
            </a:pP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43000" y="9515475"/>
            <a:ext cx="300362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52 · PART III — THE PATH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EVALUATED AND REJECTED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1482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Paths E and F look exciting. They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vaporize </a:t>
            </a:r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already have.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533525" y="3749873"/>
            <a:ext cx="716184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533525" y="4683323"/>
            <a:ext cx="716184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+ Tools + Consulting flywheel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33525" y="5292923"/>
            <a:ext cx="7161848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Daily-news is the hardest commercial podcast format — $25–$40 CPMs, 0.5–1% premium conversion. Acquired's Ben + David spent eight years toward those numbers. Neither founder has Founder-as-Talent appetite.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757363" y="7174111"/>
            <a:ext cx="32258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3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Walk-away $5–18M · Rejected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801225" y="3749873"/>
            <a:ext cx="716184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9801225" y="4683323"/>
            <a:ext cx="716184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Acquirable Media (Hard Fork-tier exit)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801225" y="5292923"/>
            <a:ext cx="7161848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Fork and How-I-Built-This-tier exits depend on existing platform-talent or network ownership. GVC has no analog. Path F would vaporize Mel's network + WikiFold + consulting infrastructure to chase a lottery.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025063" y="7174111"/>
            <a:ext cx="313846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3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Walk-away $2–8M · Rejected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43000" y="9515475"/>
            <a:ext cx="300730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52 · PART III — THE PATH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WALK-AWAY VALUES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raises the ceiling on A and C.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Materially.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3315146"/>
            <a:ext cx="350051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214045" y="3315146"/>
            <a:ext cx="189785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ESTIMATE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2901" y="3315146"/>
            <a:ext cx="18854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ESTIMATE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759330" y="3315146"/>
            <a:ext cx="73854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CHANGED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3943796"/>
            <a:ext cx="350051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Productized 2-person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214045" y="3943796"/>
            <a:ext cx="189785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$300K – 800K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7492901" y="3943796"/>
            <a:ext cx="188542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$700K – 1.4M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759330" y="3943796"/>
            <a:ext cx="738549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 as SaaS distribution moat warrants premium multiple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4772471"/>
            <a:ext cx="350051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Boutique hire-up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214045" y="4772471"/>
            <a:ext cx="1897856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$1.8M – 3M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7492901" y="4772471"/>
            <a:ext cx="1885429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$1.8M – 3M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759330" y="4772471"/>
            <a:ext cx="738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Unchanged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5596384"/>
            <a:ext cx="350051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WikiFold SaaS spinoff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5214045" y="5596384"/>
            <a:ext cx="1897856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$8M – 40M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7492901" y="5596384"/>
            <a:ext cx="1885429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$14M – 55M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759330" y="5596384"/>
            <a:ext cx="738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archive + audience as counter-moat to vertical SaaS bundling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6420296"/>
            <a:ext cx="350051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Vertical SaaS pivot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5214045" y="6420296"/>
            <a:ext cx="1897856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$2M – 15M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7492901" y="6420296"/>
            <a:ext cx="1885429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$3M – 18M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759330" y="6420296"/>
            <a:ext cx="738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direction, slightly stronger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7244209"/>
            <a:ext cx="350051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Media flywheel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5214045" y="7244209"/>
            <a:ext cx="1897856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7492901" y="7244209"/>
            <a:ext cx="1885429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$5M – 18M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9759330" y="7244209"/>
            <a:ext cx="738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and rejected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8068121"/>
            <a:ext cx="350051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· Acquirable media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5214045" y="8068121"/>
            <a:ext cx="189785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7492901" y="8068121"/>
            <a:ext cx="188542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$2M – 8M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9759330" y="8068121"/>
            <a:ext cx="738549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and rejected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43000" y="9515475"/>
            <a:ext cx="301251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52 · PART III — THE PATH</a:t>
            </a:r>
            <a:endParaRPr lang="en-US" sz="15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19397" y="914400"/>
            <a:ext cx="3925603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5000"/>
              </a:lnSpc>
              <a:buNone/>
            </a:pPr>
            <a:r>
              <a:rPr lang="en-US" sz="1650" spc="13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IV OF X · REVENUE MODEL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121694"/>
            <a:ext cx="196445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Part four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2978944"/>
            <a:ext cx="12996255" cy="3090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starters, one </a:t>
            </a:r>
            <a:pPr algn="l" indent="0" marL="0">
              <a:lnSpc>
                <a:spcPct val="100000"/>
              </a:lnSpc>
              <a:buNone/>
            </a:pPr>
            <a:r>
              <a:rPr lang="en-US" sz="12000" i="1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retainer ladder.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6565106"/>
            <a:ext cx="12753975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Productized packages funneling into retainers. Three $4.5K–$7.5K starter offerings live at the front of the menu and pull first revenue from week 5–6 to week 2–3.</a:t>
            </a:r>
            <a:endParaRPr lang="en-US" sz="3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MENU · 9 SKUS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menu, front to back.</a:t>
            </a:r>
            <a:pPr algn="l" indent="0" marL="0">
              <a:lnSpc>
                <a:spcPct val="105000"/>
              </a:lnSpc>
              <a:buNone/>
            </a:pP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334518"/>
            <a:ext cx="792708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COLD-CONVERSION STARTERS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3072705"/>
            <a:ext cx="5442897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Visibility Tune-Up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3469853"/>
            <a:ext cx="5810953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Yext, BrightLocal · 5 days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089502" y="2896493"/>
            <a:ext cx="124152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559626" y="3096518"/>
            <a:ext cx="355774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$250/mo Watch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43000" y="4420419"/>
            <a:ext cx="3882834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+ Reviews Lite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43000" y="4817566"/>
            <a:ext cx="5810953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Bloom + Birdeye + OpenMenu · 1 wk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089502" y="4244206"/>
            <a:ext cx="124152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559626" y="4444231"/>
            <a:ext cx="355774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$300/mo Hospitality Lite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43000" y="5768132"/>
            <a:ext cx="3585599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Front-Desk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143000" y="6165279"/>
            <a:ext cx="5810953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Goodcall, Numa, Rosie · 2 wks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089502" y="5591919"/>
            <a:ext cx="124152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$1,800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559626" y="5791944"/>
            <a:ext cx="355774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$200/mo built-in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43000" y="6996782"/>
            <a:ext cx="792708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 · MONTHS 2–4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43000" y="7734970"/>
            <a:ext cx="209929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Vacation Rental Direct-Booking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143000" y="8132118"/>
            <a:ext cx="5547136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Pocs-led · beats Airbnb take + Hostfully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833369" y="7558757"/>
            <a:ext cx="124152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$2,400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303493" y="7758782"/>
            <a:ext cx="611907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$400/mo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143000" y="9039820"/>
            <a:ext cx="5547136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Lite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833369" y="8906470"/>
            <a:ext cx="124152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$2,200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303493" y="9106495"/>
            <a:ext cx="611907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$300/mo wiki keep-alive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448800" y="3072705"/>
            <a:ext cx="1480542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Full Stack · BUNDLE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448800" y="3469853"/>
            <a:ext cx="5328847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Yext + Birdeye + OpenMenu + Goodcall · M3+ anchor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4927238" y="2896493"/>
            <a:ext cx="145345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$3,500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6609293" y="3096518"/>
            <a:ext cx="611907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$500/mo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448800" y="4420419"/>
            <a:ext cx="2360563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Hospitality Premium · post-trust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9448800" y="4817566"/>
            <a:ext cx="4816082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B&amp;B Stack Consolidator, Wedding Inquiry, Outfitter Booking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4429408" y="4244206"/>
            <a:ext cx="160168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$3.5–7.5K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16259696" y="4444231"/>
            <a:ext cx="961504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$600–850/mo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9448800" y="5649069"/>
            <a:ext cx="792708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RETAINERS · THE LADDER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9448800" y="6387257"/>
            <a:ext cx="4036051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· GBP active monitoring</a:t>
            </a:r>
            <a:pPr algn="l" indent="0" marL="0">
              <a:lnSpc>
                <a:spcPct val="165000"/>
              </a:lnSpc>
              <a:buNone/>
            </a:pP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9448800" y="6784404"/>
            <a:ext cx="4796537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search visibility · monthly local SEO updates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4410432" y="6211044"/>
            <a:ext cx="187664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$250/mo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16515680" y="6411069"/>
            <a:ext cx="705520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9448800" y="7734970"/>
            <a:ext cx="2524348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Hospitality Lite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9448800" y="8132118"/>
            <a:ext cx="4796537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+ reviews + allergen ongoing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4410432" y="7558757"/>
            <a:ext cx="187664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$300/mo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16515680" y="7758782"/>
            <a:ext cx="705520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143000" y="9515475"/>
            <a:ext cx="382251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52 · PART IV — REVENUE MODEL</a:t>
            </a:r>
            <a:endParaRPr lang="en-US" sz="1500" dirty="0"/>
          </a:p>
        </p:txBody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STARTER OFFERINGS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cold-conversion starters. One retainer ladder.</a:t>
            </a:r>
            <a:pPr algn="l" indent="0" marL="0">
              <a:lnSpc>
                <a:spcPct val="105000"/>
              </a:lnSpc>
              <a:buNone/>
            </a:pP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743075" y="3086993"/>
            <a:ext cx="156470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39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Anti-SaaS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33525" y="3725168"/>
            <a:ext cx="4427867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Visibility Tune-Up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33525" y="4906268"/>
            <a:ext cx="4427867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and optimize Google Business Profile + AI search schema. Cold-pitch frame: 'You're paying Yext or BrightLocal $99–$300/mo for the same thing — we set it up once, you own it.'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33525" y="6935093"/>
            <a:ext cx="442786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$750 flat · 5 days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533525" y="7478018"/>
            <a:ext cx="442786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Ladders to $250/mo Watch retainer.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204025" y="3086993"/>
            <a:ext cx="170266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39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Hospitality wedge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994475" y="3725168"/>
            <a:ext cx="442794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+ Reviews Lite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4475" y="4468118"/>
            <a:ext cx="4427944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single-source-of-truth + AI review responses + allergen tagging. Replaces Bloom + Birdeye + OpenMenu (~$300+/mo). CA SB-68 (Jul 1, 2026) is the FL regulatory tailwind.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94475" y="6496943"/>
            <a:ext cx="442794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$1,500 flat · 1 week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994475" y="7039868"/>
            <a:ext cx="442794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Ladders to $300/mo Hospitality Lite retainer.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665050" y="3086993"/>
            <a:ext cx="22136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39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Service-business wedge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455500" y="3725168"/>
            <a:ext cx="442786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Front-Desk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455500" y="4468118"/>
            <a:ext cx="4427867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phone receptionist + call routing for HVAC, dental, salons, B&amp;Bs. Replaces Goodcall / Numa / Rosie ($49–$79/mo). Built-in retainer.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455500" y="6496943"/>
            <a:ext cx="442786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$1,800 flat · 2 weeks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455500" y="7039868"/>
            <a:ext cx="442786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$200/mo retainer for ongoing call routing.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43000" y="9515475"/>
            <a:ext cx="380350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52 · PART IV — REVENUE MODEL</a:t>
            </a:r>
            <a:endParaRPr lang="en-US" sz="15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ANTI-PATTERNS REFUSED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evaluated and chose not to build (v3).</a:t>
            </a:r>
            <a:pPr algn="l" indent="0" marL="0">
              <a:lnSpc>
                <a:spcPct val="105000"/>
              </a:lnSpc>
              <a:buNone/>
            </a:pP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3057079"/>
            <a:ext cx="475131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REFUSED OFFERING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28408" y="3057079"/>
            <a:ext cx="1081634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3685729"/>
            <a:ext cx="4751312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$7,500 site refresh (v2 starter) · standalone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428408" y="3685729"/>
            <a:ext cx="10816348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Mispriced for cold motion · cold-conversion ceiling is ~$3K not $7.5K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71600" y="4451524"/>
            <a:ext cx="4751312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Customer-service chatbots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428408" y="4451524"/>
            <a:ext cx="10816348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Qualtrics: 4× failure rate of other AI tasks · 88% of customers prefer humans · 'fire your staff with AI' anti-pattern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371600" y="5621164"/>
            <a:ext cx="4751312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Mailchimp → Klaviyo migrations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428408" y="5621164"/>
            <a:ext cx="10816348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E-commerce-tilted · saturated done-for-you category · off-vertical for hospitality + services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71600" y="6382196"/>
            <a:ext cx="4751312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booking-system rebuilds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428408" y="6382196"/>
            <a:ext cx="10816348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SaaS does it cheaper · $40K–$250K customs are out of starter band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71600" y="7143229"/>
            <a:ext cx="4751312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bookkeeping automation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428408" y="7143229"/>
            <a:ext cx="10816348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Regulated · QuickBooks AI handles 85–95% already · build a partner channel instead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371600" y="7904262"/>
            <a:ext cx="4751312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$200/hr 'AI consulting' on the homepage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428408" y="7904262"/>
            <a:ext cx="10816348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10x trap · reserved as $450/hr internal-only existing-client rate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43000" y="9515475"/>
            <a:ext cx="38196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52 · PART IV — REVENUE MODEL</a:t>
            </a:r>
            <a:endParaRPr lang="en-US" sz="15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51038" y="914400"/>
            <a:ext cx="2293962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5000"/>
              </a:lnSpc>
              <a:buNone/>
            </a:pPr>
            <a:r>
              <a:rPr lang="en-US" sz="1650" spc="13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 OF X · GTM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121694"/>
            <a:ext cx="1857003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Part five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2978944"/>
            <a:ext cx="15786953" cy="3090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acquisition wins.</a:t>
            </a:r>
            <a:pPr algn="l" indent="0" marL="0">
              <a:lnSpc>
                <a:spcPct val="100000"/>
              </a:lnSpc>
              <a:buNone/>
            </a:pPr>
            <a:endParaRPr lang="en-US" sz="12000" dirty="0"/>
          </a:p>
          <a:p>
            <a:r>
              <a:t>Workshops + GBP + podcast lead.</a:t>
            </a:r>
          </a:p>
        </p:txBody>
      </p:sp>
      <p:sp>
        <p:nvSpPr>
          <p:cNvPr id="5" name="Text 3"/>
          <p:cNvSpPr/>
          <p:nvPr/>
        </p:nvSpPr>
        <p:spPr>
          <a:xfrm>
            <a:off x="1143000" y="6565106"/>
            <a:ext cx="12753975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warm-referral motion is upside, not plan. The owned podcast is the most exciting asset, not the most productive lead source. Workshops + local SEO + direct mail (Poconos) carry the pipeline.</a:t>
            </a:r>
            <a:endParaRPr lang="en-US" sz="3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RANKING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leads actually come from in year one — cold motion.</a:t>
            </a:r>
            <a:pPr algn="l" indent="0" marL="0">
              <a:lnSpc>
                <a:spcPct val="105000"/>
              </a:lnSpc>
              <a:buNone/>
            </a:pPr>
            <a:pPr algn="l" indent="0" marL="0">
              <a:lnSpc>
                <a:spcPct val="105000"/>
              </a:lnSpc>
              <a:buNone/>
            </a:pP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2704654"/>
            <a:ext cx="93888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691482" y="2704654"/>
            <a:ext cx="741301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332467" y="2704654"/>
            <a:ext cx="395349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FIT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14699" y="2704654"/>
            <a:ext cx="23844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RESULT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3333304"/>
            <a:ext cx="938882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2691482" y="3333304"/>
            <a:ext cx="7413014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SEO + GBP (two SABs)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332467" y="3333304"/>
            <a:ext cx="3953499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4614699" y="3333304"/>
            <a:ext cx="2384468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3–6 months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71600" y="4099099"/>
            <a:ext cx="938882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2691482" y="4099099"/>
            <a:ext cx="7413014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circuit (libraries, Chambers, coworking)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332467" y="4099099"/>
            <a:ext cx="3953499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4614699" y="4099099"/>
            <a:ext cx="2384468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4–8 weeks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371600" y="4860131"/>
            <a:ext cx="938882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691482" y="4860131"/>
            <a:ext cx="7413014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podcast + newsletter recap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332467" y="4860131"/>
            <a:ext cx="3953499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(Mel-led audiograms)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614699" y="4860131"/>
            <a:ext cx="2384468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8–16 weeks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371600" y="5621164"/>
            <a:ext cx="938882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2691482" y="5621164"/>
            <a:ext cx="7413014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Chamber / BNI / Rotary engagement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332467" y="5621164"/>
            <a:ext cx="3953499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4614699" y="5621164"/>
            <a:ext cx="2384468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6–12 weeks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371600" y="6382196"/>
            <a:ext cx="938882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2691482" y="6382196"/>
            <a:ext cx="7413014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mail (Poconos only)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0332467" y="6382196"/>
            <a:ext cx="3953499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 designs, Mel signs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4614699" y="6382196"/>
            <a:ext cx="2384468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4–8 weeks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371600" y="7143229"/>
            <a:ext cx="938882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2691482" y="7143229"/>
            <a:ext cx="7413014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direct outreach (email + LinkedIn + Loom)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0332467" y="7143229"/>
            <a:ext cx="3953499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4614699" y="7143229"/>
            <a:ext cx="2384468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4–8 weeks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371600" y="7904262"/>
            <a:ext cx="938882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2691482" y="7904262"/>
            <a:ext cx="7413014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events / festivals / fairs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0332467" y="7904262"/>
            <a:ext cx="3953499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4614699" y="7904262"/>
            <a:ext cx="2384468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371600" y="8665294"/>
            <a:ext cx="938882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2691482" y="8665294"/>
            <a:ext cx="7413014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Geo-targeted Google / Meta ads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0332467" y="8665294"/>
            <a:ext cx="3953499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4614699" y="8665294"/>
            <a:ext cx="2384468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 weeks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143000" y="9515475"/>
            <a:ext cx="251415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52 · PART V — GTM</a:t>
            </a:r>
            <a:endParaRPr lang="en-US" sz="150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SLEEPER FINDING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1482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newsletter recap is where conversion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compounds.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3912319"/>
            <a:ext cx="7966329" cy="147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v1, the newsletter was gated on Matt committing the writing time. In v2, the daily podcast research already exists — the recap writes itself.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43000" y="5619155"/>
            <a:ext cx="7966329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teaches the brain. Email captures the address. The podcast unblocks the newsletter, and the newsletter is what actually puts a Calendly link in front of a buyer.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524000" y="7390805"/>
            <a:ext cx="7204329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Therefore: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recap is not "podcast marketing." It is the channel. The audio is the rehearsal — the email is the conversion.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801225" y="4315718"/>
            <a:ext cx="716184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27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DISCIPLINE · PICK THREE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601200" y="4801493"/>
            <a:ext cx="7229475" cy="1547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recap from daily research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Mel-led audiograms (LinkedIn, Instagram)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Show-notes SEO archive (JSON-LD)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801225" y="7320855"/>
            <a:ext cx="716184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27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— STAY DISCIPLINED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801225" y="7806630"/>
            <a:ext cx="716184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Loom embeds. Guest swaps before M9. YouTube long-form. TikTok. X threads.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9515475"/>
            <a:ext cx="244450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52 · PART V — GTM</a:t>
            </a:r>
            <a:endParaRPr lang="en-US" sz="15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12-MONTH MATH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1482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1,200 listeners per episode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buys us.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3850481"/>
            <a:ext cx="3885057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0" spc="-16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</a:t>
            </a:r>
            <a:endParaRPr lang="en-US" sz="8250" dirty="0"/>
          </a:p>
        </p:txBody>
      </p:sp>
      <p:sp>
        <p:nvSpPr>
          <p:cNvPr id="5" name="Text 3"/>
          <p:cNvSpPr/>
          <p:nvPr/>
        </p:nvSpPr>
        <p:spPr>
          <a:xfrm>
            <a:off x="1143000" y="5012531"/>
            <a:ext cx="353187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Listeners per episode (base case, Y1 close)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219700" y="3850481"/>
            <a:ext cx="3885057" cy="1090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0" i="1" spc="-16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</a:t>
            </a:r>
            <a:endParaRPr lang="en-US" sz="8250" dirty="0"/>
          </a:p>
        </p:txBody>
      </p:sp>
      <p:sp>
        <p:nvSpPr>
          <p:cNvPr id="7" name="Text 5"/>
          <p:cNvSpPr/>
          <p:nvPr/>
        </p:nvSpPr>
        <p:spPr>
          <a:xfrm>
            <a:off x="5219700" y="5017294"/>
            <a:ext cx="353187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calls per month attributable to the podcast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296400" y="3850481"/>
            <a:ext cx="3885057" cy="1090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0" i="1" spc="-16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3–6</a:t>
            </a:r>
            <a:endParaRPr lang="en-US" sz="8250" dirty="0"/>
          </a:p>
        </p:txBody>
      </p:sp>
      <p:sp>
        <p:nvSpPr>
          <p:cNvPr id="9" name="Text 7"/>
          <p:cNvSpPr/>
          <p:nvPr/>
        </p:nvSpPr>
        <p:spPr>
          <a:xfrm>
            <a:off x="9296400" y="5017294"/>
            <a:ext cx="353187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 conversions per month (warm-list lift)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373100" y="3850481"/>
            <a:ext cx="3885057" cy="2143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0" i="1" spc="-16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$150–250K</a:t>
            </a:r>
            <a:endParaRPr lang="en-US" sz="8250" dirty="0"/>
          </a:p>
        </p:txBody>
      </p:sp>
      <p:sp>
        <p:nvSpPr>
          <p:cNvPr id="11" name="Text 9"/>
          <p:cNvSpPr/>
          <p:nvPr/>
        </p:nvSpPr>
        <p:spPr>
          <a:xfrm>
            <a:off x="13373100" y="6069806"/>
            <a:ext cx="353187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Podcast-attributable revenue at Y1 close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24000" y="7624167"/>
            <a:ext cx="157200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framing: workshops + local SEO + cold outreach carry the bulk of pipeline. Podcast adds ~25–35% of attributed Y1 revenue at 1,200 listeners/ep base case. Newsletter recap is the actual conversion lever, not the audio.</a:t>
            </a:r>
            <a:pPr algn="l" indent="0" marL="0">
              <a:lnSpc>
                <a:spcPct val="150000"/>
              </a:lnSpc>
              <a:buNone/>
            </a:pP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43000" y="9515475"/>
            <a:ext cx="249257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52 · PART V — GTM</a:t>
            </a:r>
            <a:endParaRPr lang="en-US" sz="15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93815" y="914400"/>
            <a:ext cx="3551185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5000"/>
              </a:lnSpc>
              <a:buNone/>
            </a:pPr>
            <a:r>
              <a:rPr lang="en-US" sz="1650" spc="13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 OF X · THE PODCAST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121694"/>
            <a:ext cx="174999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Part six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2978944"/>
            <a:ext cx="12570330" cy="3090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podcast, as a </a:t>
            </a:r>
            <a:pPr algn="l" indent="0" marL="0">
              <a:lnSpc>
                <a:spcPct val="100000"/>
              </a:lnSpc>
              <a:buNone/>
            </a:pPr>
            <a:r>
              <a:rPr lang="en-US" sz="12000" i="1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asset.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6565106"/>
            <a:ext cx="12753975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content project. The highest-leverage methodology-IP delivery surface we will ever build — if (and only if) four conditions hold by episode 150.</a:t>
            </a:r>
            <a:endParaRPr lang="en-US" sz="3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PODCAST AT ALL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1482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collapses two of our highest-effort moats into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daily artifact.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743075" y="3807023"/>
            <a:ext cx="123810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39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33525" y="4426148"/>
            <a:ext cx="4427867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Mel-forward hospitality authority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33525" y="5588198"/>
            <a:ext cx="4427867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daily in a copy-resistant format. Back-catalog cannot be cloned overnight. The single hardest thing to copy is the operator's voice.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204025" y="3807023"/>
            <a:ext cx="196840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39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IP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994475" y="4426148"/>
            <a:ext cx="442794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playbook, drafted on-air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994475" y="5588198"/>
            <a:ext cx="4427944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episode generates raw material — job-fear reframings, plain-language analogies, recurring on-air metrics — that flow into the consulting playbook, sales decks, and WikiFold articles.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665050" y="3807023"/>
            <a:ext cx="194935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39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surface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455500" y="4426148"/>
            <a:ext cx="442786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WikiFold v2 launch arc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455500" y="5150048"/>
            <a:ext cx="4427867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4–6 episode product-launch arc at month 12–18 is the single highest-leverage marketing decision available to the founders. Owned, named, on the record.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43000" y="8654504"/>
            <a:ext cx="14716125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Matt an estimated 6–8 hrs/week vs. v1's standalone "Implementation Playbook as a versioned doc," which is downgraded to a transcript-derivation byproduct.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43000" y="9515475"/>
            <a:ext cx="30945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52 · PART VI — PODCAST</a:t>
            </a:r>
            <a:endParaRPr lang="en-US" sz="15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CONDITIONS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1482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podcast is a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</a:t>
            </a:r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moat, not a structural one.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3130748"/>
            <a:ext cx="147161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position is copyable in 6 months. ~70% of daily podcasts die inside 18 months. Audience moats belong to shows, not consultancies. Activates at episode ~150 only if all four hold.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666875" y="4664273"/>
            <a:ext cx="303386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b="1" spc="3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57325" y="5219551"/>
            <a:ext cx="731882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Narrowed editorial position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57325" y="5905351"/>
            <a:ext cx="73188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framework. </a:t>
            </a:r>
            <a:pPr algn="l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Augmentation Lens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Three-Question Test.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name, the position stays copyable.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34575" y="4664273"/>
            <a:ext cx="351086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b="1" spc="3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725025" y="5219551"/>
            <a:ext cx="731882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founder-pairing chemistry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725025" y="5905351"/>
            <a:ext cx="73188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Story-owner + reactor format. Not equal-time alternating dialogue. Mel owns the cold open; Matt owns lead/main scripts.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66875" y="7772251"/>
            <a:ext cx="357188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b="1" spc="3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57325" y="8327529"/>
            <a:ext cx="731882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&lt;8 founder-hours / week by M6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457325" y="9013329"/>
            <a:ext cx="73188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Who has landed. If founder hours stay above 8/wk past M6, the show is grinding the founders, not multiplying them.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934575" y="7772251"/>
            <a:ext cx="365447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b="1" spc="3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725025" y="8327529"/>
            <a:ext cx="731882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routed into the GVC funnel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725025" y="9013329"/>
            <a:ext cx="73188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capture working. Without it, the audio is a parasocial gift to the buyer's commute, not a pipeline.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9515475"/>
            <a:ext cx="30963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52 · PART VI — PODCAST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OPTIMIZATION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1482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line-level changes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stolen </a:t>
            </a:r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best dailies.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533525" y="3711773"/>
            <a:ext cx="442786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Cold open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33525" y="4435673"/>
            <a:ext cx="442786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seconds. Mel-led. Number-first.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33550" y="4930973"/>
            <a:ext cx="4227842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"Ninety percent. That's how many deaf children in this trial got their hearing back from a single shot the FDA approved last week."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33525" y="6363295"/>
            <a:ext cx="442786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Stolen from </a:t>
            </a:r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Indicator.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994475" y="3711773"/>
            <a:ext cx="442794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Hand-off cadence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994475" y="4435673"/>
            <a:ext cx="442794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35-second voice-block cap. Named reaction types — no generic "tell me more."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94450" y="5616773"/>
            <a:ext cx="4575200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Curious-listener question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line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landing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Job-fear reframing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455500" y="3711773"/>
            <a:ext cx="442786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Sign-off ritual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455500" y="4435673"/>
            <a:ext cx="442786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Verbatim every episode for 8 weeks.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655525" y="4930973"/>
            <a:ext cx="4227842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technology is whatever we make of it." / "We'll be back tomorrow with more of what's working." / </a:t>
            </a:r>
            <a:pPr algn="l" indent="0" marL="0">
              <a:lnSpc>
                <a:spcPct val="140000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"Good vibes only."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9515475"/>
            <a:ext cx="309950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52 · PART VI — PODCAST</a:t>
            </a:r>
            <a:endParaRPr lang="en-US" sz="15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episodes per week, plus a Friday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listener cut.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3347591"/>
            <a:ext cx="19716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724275" y="3347591"/>
            <a:ext cx="12052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310560" y="3347591"/>
            <a:ext cx="107260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(5)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4164" y="3347591"/>
            <a:ext cx="79362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4×/WK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38790" y="3347591"/>
            <a:ext cx="7861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3×/WK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3976241"/>
            <a:ext cx="1971675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/ story-pick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3724275" y="3976241"/>
            <a:ext cx="1205285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310560" y="3976241"/>
            <a:ext cx="1072604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764164" y="3976241"/>
            <a:ext cx="793626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938790" y="3976241"/>
            <a:ext cx="786110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71600" y="5150644"/>
            <a:ext cx="1971675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3724275" y="5150644"/>
            <a:ext cx="1205285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5310560" y="5150644"/>
            <a:ext cx="1072604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764164" y="5150644"/>
            <a:ext cx="793626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938790" y="5150644"/>
            <a:ext cx="786110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71600" y="5911676"/>
            <a:ext cx="1971675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+ show-notes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3724275" y="5911676"/>
            <a:ext cx="1205285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Delegated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5310560" y="5911676"/>
            <a:ext cx="1072604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764164" y="5911676"/>
            <a:ext cx="793626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7938790" y="5911676"/>
            <a:ext cx="786110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371600" y="7081317"/>
            <a:ext cx="1971675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review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3724275" y="7081317"/>
            <a:ext cx="1205285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5310560" y="7081317"/>
            <a:ext cx="1072604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6764164" y="7081317"/>
            <a:ext cx="793626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7938790" y="7081317"/>
            <a:ext cx="786110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371600" y="7842349"/>
            <a:ext cx="1971675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founder hours / wk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5310560" y="7842349"/>
            <a:ext cx="1072604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6764164" y="7842349"/>
            <a:ext cx="793626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7938790" y="7842349"/>
            <a:ext cx="786110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9791700" y="4186684"/>
            <a:ext cx="7204329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4×/week (Mon–Thu) + Friday "What Made You Smile" listener cut.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Solves the trilemma: ritual preserved, polish improved, email-list capture, recurring segment moat, eventual interview slot.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9410700" y="6396484"/>
            <a:ext cx="796632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 is not a full episode — 5–7 minutes of listener-submitted stories, alternating Matt/Mel reads. ~30 minutes total production.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9410700" y="7444234"/>
            <a:ext cx="796632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go weekly.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Forfeits the morning-ritual moat that </a:t>
            </a:r>
            <a:pPr algn="l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First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pPr algn="l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Daily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their audiences on.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43000" y="9515475"/>
            <a:ext cx="30778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52 · PART VI — PODCAST</a:t>
            </a:r>
            <a:endParaRPr lang="en-US" sz="150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IP PIPELINE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episode produces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</a:t>
            </a:r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artifacts.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2582168"/>
            <a:ext cx="26920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429125" y="2582168"/>
            <a:ext cx="32520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30319" y="2582168"/>
            <a:ext cx="91663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USES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3210818"/>
            <a:ext cx="2692051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briefing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4429125" y="3210818"/>
            <a:ext cx="3252030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Auto-scrape, 35+ sourced stories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8030319" y="3210818"/>
            <a:ext cx="9166379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GVC blog · WikiFold articles · Matt's monthly essay · sales-deck "things we tracked"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371600" y="4353818"/>
            <a:ext cx="2692051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summaries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4429125" y="4353818"/>
            <a:ext cx="3252030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Per-episode show-notes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8030319" y="4353818"/>
            <a:ext cx="9166379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JSON-LD on goodvibescoding.com · Mel's 2/wk LinkedIn carousels · AI-search answer surface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371600" y="5492055"/>
            <a:ext cx="2692051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Customer-voice quotes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4429125" y="5492055"/>
            <a:ext cx="3252030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from briefing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8030319" y="5492055"/>
            <a:ext cx="9166379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Sales-deck testimonials · pricing-page social proof · email snippets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371600" y="6630293"/>
            <a:ext cx="2692051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case studies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4429125" y="6630293"/>
            <a:ext cx="3252030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Tagged when story = real client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8030319" y="6630293"/>
            <a:ext cx="9166379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GVC case-study page · Mel's hospitality vertical authority · Loom-walkthrough material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371600" y="7768530"/>
            <a:ext cx="2692051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fragments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4429125" y="7768530"/>
            <a:ext cx="3252030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Implicit in scripts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8030319" y="7768530"/>
            <a:ext cx="9166379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implementation playbook · onboarding doc for first Who · sales-call language library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143000" y="9035355"/>
            <a:ext cx="15697200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M18: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~300 indexed plain-language AI use-case explanations tied to real stories — exactly the corpus a sales conversation needs. The podcast becomes a sales rehearsal that runs daily.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43000" y="9515475"/>
            <a:ext cx="309398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52 · PART VI — PODCAST</a:t>
            </a:r>
            <a:endParaRPr lang="en-US" sz="15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POSITION AS IP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1482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as augmentation, not catastrophe" is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</a:t>
            </a:r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2026.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3359348"/>
            <a:ext cx="796632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AI-media quadrants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85900" y="4026098"/>
            <a:ext cx="762342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Catastrophic / doom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algn="l" indent="0" marL="0">
              <a:lnSpc>
                <a:spcPct val="145000"/>
              </a:lnSpc>
              <a:buNone/>
            </a:pPr>
            <a:r>
              <a:rPr lang="en-US" sz="22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Doomer Optimism,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of Life Institute, much of </a:t>
            </a:r>
            <a:pPr algn="l" indent="0" marL="0">
              <a:lnSpc>
                <a:spcPct val="145000"/>
              </a:lnSpc>
              <a:buNone/>
            </a:pPr>
            <a:r>
              <a:rPr lang="en-US" sz="22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Information's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desk.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485900" y="5026223"/>
            <a:ext cx="762342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 / hyperscale fanboy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algn="l" indent="0" marL="0">
              <a:lnSpc>
                <a:spcPct val="145000"/>
              </a:lnSpc>
              <a:buNone/>
            </a:pPr>
            <a:r>
              <a:rPr lang="en-US" sz="22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Priors, AI Daily Brief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(lighter), most VC-adjacent shows.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85900" y="6026348"/>
            <a:ext cx="762342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Skeptic / debunker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Zitron's </a:t>
            </a:r>
            <a:pPr algn="l" indent="0" marL="0">
              <a:lnSpc>
                <a:spcPct val="145000"/>
              </a:lnSpc>
              <a:buNone/>
            </a:pPr>
            <a:r>
              <a:rPr lang="en-US" sz="22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Offline,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</a:t>
            </a:r>
            <a:pPr algn="l" indent="0" marL="0">
              <a:lnSpc>
                <a:spcPct val="145000"/>
              </a:lnSpc>
              <a:buNone/>
            </a:pPr>
            <a:r>
              <a:rPr lang="en-US" sz="22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Platformer.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485900" y="7026473"/>
            <a:ext cx="762342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GVC: augmentation, evidence-based, plain-language, vulnerable-population-first.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Near-empty quadrant.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801225" y="3711773"/>
            <a:ext cx="716184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NOT copyable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601200" y="4264223"/>
            <a:ext cx="7229475" cy="3038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evidence drumbeat — 200 episodes of receipts beats 1 essay of position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editorial framework that listeners repeat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recurring on-air metrics that signal "we're not making this up"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operator's voice — Mel's UA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791700" y="8226623"/>
            <a:ext cx="7204329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 the doom cycle.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major doom story breaks, GVC covers it only through the augmentation lens — or skips. </a:t>
            </a:r>
            <a:pPr algn="l" indent="0" marL="0">
              <a:lnSpc>
                <a:spcPct val="150000"/>
              </a:lnSpc>
              <a:buNone/>
            </a:pPr>
            <a:r>
              <a:rPr lang="en-US" sz="2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discipline is the moat.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43000" y="9515475"/>
            <a:ext cx="309797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52 · PART VI — PODCAST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KILL CRITERION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1482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at month 12 retainer MRR is below $15K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show is below 5K listeners —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it.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533525" y="4166146"/>
            <a:ext cx="442786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27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A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33525" y="4670971"/>
            <a:ext cx="4427867" cy="713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i="1" spc="-4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$15K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533525" y="5479628"/>
            <a:ext cx="442786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Retainer MRR at month 12.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994475" y="4166146"/>
            <a:ext cx="442794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27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B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994475" y="4670971"/>
            <a:ext cx="4427944" cy="713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i="1" spc="-4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5K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994475" y="5479628"/>
            <a:ext cx="442794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Listeners per episode at month 12.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455500" y="4166146"/>
            <a:ext cx="442786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27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455500" y="4670971"/>
            <a:ext cx="4427867" cy="713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i="1" spc="-4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Pause.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2455500" y="5479628"/>
            <a:ext cx="442786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double down. The show is cannibalizing the consulting business.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524000" y="7489403"/>
            <a:ext cx="1572006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production is famously punishing.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of daily podcasts die inside 18 months. The kill criterion is real, not theatrical. The first inbound sponsorship offer will probably arrive before audience quality justifies it — refuse before M18 regardless of offer size.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143000" y="9515475"/>
            <a:ext cx="31159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52 · PART VI — PODCAST</a:t>
            </a:r>
            <a:endParaRPr lang="en-US" sz="15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7988" y="914400"/>
            <a:ext cx="3727012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5000"/>
              </a:lnSpc>
              <a:buNone/>
            </a:pPr>
            <a:r>
              <a:rPr lang="en-US" sz="1650" spc="13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VII OF X · DEFENSIBILITY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883694"/>
            <a:ext cx="2173263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Part seven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3740944"/>
            <a:ext cx="11329960" cy="1566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Moats, </a:t>
            </a:r>
            <a:pPr algn="l" indent="0" marL="0">
              <a:lnSpc>
                <a:spcPct val="100000"/>
              </a:lnSpc>
              <a:buNone/>
            </a:pPr>
            <a:r>
              <a:rPr lang="en-US" sz="12000" i="1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collapsed.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5803106"/>
            <a:ext cx="12753975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podcast doesn't add a moat. It collapses the two highest-effort moat investments — hospitality vertical authority and methodology IP — into one daily compounding artifact.</a:t>
            </a:r>
            <a:endParaRPr lang="en-US" sz="3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TOP-3 MOAT INVESTMENTS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of three now flow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</a:t>
            </a:r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podcast.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533525" y="2991743"/>
            <a:ext cx="442786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27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 01 + 02 · MERGED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33525" y="3496568"/>
            <a:ext cx="4427867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Hospitality authority + methodology IP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33525" y="4639568"/>
            <a:ext cx="4427867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flow through the podcast itself. A daily compounding artifact. v1's standalone "Implementation Playbook as versioned doc" is downgraded to a transcript-derivation byproduct.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994475" y="2991743"/>
            <a:ext cx="442794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27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 03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994475" y="3496568"/>
            <a:ext cx="442794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artifacts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994475" y="4201418"/>
            <a:ext cx="4427944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clients, named team-member testimonials, real metrics — fed by the podcast back-catalog. Customer voice is sourced on-air, not invented for the website.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455500" y="2991743"/>
            <a:ext cx="442786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27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NOT A MOAT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455500" y="3496568"/>
            <a:ext cx="4427867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podcast itself, by itself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455500" y="4639568"/>
            <a:ext cx="4427867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position copyable in 6 months. Audience moats belong to shows, not consultancies. The four conditions on slide 25 must all hold.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43000" y="9013552"/>
            <a:ext cx="16482060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Net: Matt saves 6–8 hrs/week vs. v1 because the playbook is now a transcript byproduct, not a separate writing project.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43000" y="9515475"/>
            <a:ext cx="36642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52 · PART VII — DEFENSIBILITY</a:t>
            </a:r>
            <a:endParaRPr lang="en-US" sz="15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YEAR-3 VERTICAL SAAS THREAT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Materially weakened. Not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eliminated.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4790554"/>
            <a:ext cx="7966329" cy="136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Toast, ServiceTitan, and Mindbody bundle AI features into existing subscriptions. The threat in 24–36 months is that our work becomes a free feature of their product.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6421189"/>
            <a:ext cx="796632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editorial archive is a counter-asset they can't match through the same channel — provided we hold the line on independence.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801225" y="4274790"/>
            <a:ext cx="7161848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Independence-as-IP — the load-bearing rule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01200" y="5322540"/>
            <a:ext cx="7229475" cy="2452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platform-incumbent sponsorships. Ever.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 first inbound sponsorship offer before M18, regardless of size.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becomes a counter-asset only if it stays editorially uncompromised.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43000" y="9515475"/>
            <a:ext cx="366784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52 · PART VII — DEFENSIBILITY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OPTIONALITY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exit shapes.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for the third.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757363" y="3177480"/>
            <a:ext cx="108912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39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33525" y="3810893"/>
            <a:ext cx="442786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bolt-on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33525" y="4534793"/>
            <a:ext cx="442786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000" spc="-1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$1.5–8M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533525" y="5830193"/>
            <a:ext cx="442786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larger media property buys the show + back-catalog + email list.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218313" y="3177480"/>
            <a:ext cx="108912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39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994475" y="3810893"/>
            <a:ext cx="442794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Founder-pairing acquihire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994475" y="4972943"/>
            <a:ext cx="4427944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000" spc="-1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$4–12M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994475" y="6268343"/>
            <a:ext cx="442794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platform incumbent acquires the team + show as a brand-trust play.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665050" y="3163193"/>
            <a:ext cx="138060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39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likely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455500" y="3782318"/>
            <a:ext cx="4427867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Acquired-style independence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455500" y="4944368"/>
            <a:ext cx="4427867" cy="2333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000" i="1" spc="-1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$200–800K/yr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12455500" y="7392293"/>
            <a:ext cx="442786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 podcast revenue line. The walk-away we plan for.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9515475"/>
            <a:ext cx="367312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52 · PART VII — DEFENSIBILITY</a:t>
            </a:r>
            <a:endParaRPr lang="en-US" sz="15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373" y="914400"/>
            <a:ext cx="3428627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5000"/>
              </a:lnSpc>
              <a:buNone/>
            </a:pPr>
            <a:r>
              <a:rPr lang="en-US" sz="1650" spc="13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VIII OF X · FINANCIALS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121694"/>
            <a:ext cx="208716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Part eight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2978944"/>
            <a:ext cx="10846781" cy="3090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$756K Y3, </a:t>
            </a:r>
            <a:pPr algn="l" indent="0" marL="0">
              <a:lnSpc>
                <a:spcPct val="100000"/>
              </a:lnSpc>
              <a:buNone/>
            </a:pPr>
            <a:r>
              <a:rPr lang="en-US" sz="12000" i="1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thirty percent.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6565106"/>
            <a:ext cx="12753975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~$78K more EBITDA AND ~6 hours per week less founder production time vs. v1, both from the podcast editor hire. The producer Who is the financial fulcrum.</a:t>
            </a:r>
            <a:endParaRPr lang="en-US" sz="3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→ YEAR 3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scenarios. Y1 base ~$510K with workshop sprint volume layered on.</a:t>
            </a:r>
            <a:pPr algn="l" indent="0" marL="0">
              <a:lnSpc>
                <a:spcPct val="105000"/>
              </a:lnSpc>
              <a:buNone/>
            </a:pP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3664744"/>
            <a:ext cx="439490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82382" y="3664744"/>
            <a:ext cx="143537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 REVENUE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98755" y="3664744"/>
            <a:ext cx="14789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Y2 REVENUE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758735" y="3664744"/>
            <a:ext cx="147868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 REVENUE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618416" y="3664744"/>
            <a:ext cx="226321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 FOUNDER DRAW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259595" y="3664744"/>
            <a:ext cx="27502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 EBITDA MARGIN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4293394"/>
            <a:ext cx="4394906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082382" y="4293394"/>
            <a:ext cx="1435373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~$120K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898755" y="4293394"/>
            <a:ext cx="1478979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~$220K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758735" y="4293394"/>
            <a:ext cx="1478682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~$320K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1618416" y="4293394"/>
            <a:ext cx="2263214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~$180K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259595" y="4293394"/>
            <a:ext cx="2750225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~27%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71600" y="5090592"/>
            <a:ext cx="4394906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082382" y="5090592"/>
            <a:ext cx="1435373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~$510K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898755" y="5090592"/>
            <a:ext cx="1478979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~$720K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758735" y="5090592"/>
            <a:ext cx="1478682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$756K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1618416" y="5090592"/>
            <a:ext cx="2263214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$288K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4259595" y="5090592"/>
            <a:ext cx="2750225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· $224K EBITDA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71600" y="5883027"/>
            <a:ext cx="4394906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 · incl. SaaS spinoff Y2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082382" y="5883027"/>
            <a:ext cx="1435373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~$520K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898755" y="5883027"/>
            <a:ext cx="1478979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~$920K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758735" y="5883027"/>
            <a:ext cx="1478682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~$1.5M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1618416" y="5883027"/>
            <a:ext cx="2263214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~$420K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4259595" y="5883027"/>
            <a:ext cx="2750225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~35%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524000" y="8267700"/>
            <a:ext cx="157200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needs $45K reserve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(Y2 EBITDA goes from +$400 to −$14,700 with podcast tax). OR defer the editor to Y3. </a:t>
            </a:r>
            <a:pPr algn="l" indent="0" marL="0">
              <a:lnSpc>
                <a:spcPct val="150000"/>
              </a:lnSpc>
              <a:buNone/>
            </a:pPr>
            <a:r>
              <a:rPr lang="en-US" sz="2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outside capital in any scenario.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143000" y="9515475"/>
            <a:ext cx="34739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52 · PART VIII — FINANCIALS</a:t>
            </a:r>
            <a:endParaRPr lang="en-US" sz="15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COST REALITY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1482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implicitly assumed founder podcast hours were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billable. </a:t>
            </a:r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aren't.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4528245"/>
            <a:ext cx="7966329" cy="1090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0" i="1" spc="-16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~17 hrs/wk</a:t>
            </a:r>
            <a:endParaRPr lang="en-US" sz="8250" dirty="0"/>
          </a:p>
        </p:txBody>
      </p:sp>
      <p:sp>
        <p:nvSpPr>
          <p:cNvPr id="5" name="Text 3"/>
          <p:cNvSpPr/>
          <p:nvPr/>
        </p:nvSpPr>
        <p:spPr>
          <a:xfrm>
            <a:off x="1143000" y="5695057"/>
            <a:ext cx="5297805" cy="1158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block on DIY production, observed from the actual 5-episode pipeline (60% Matt / 40% Mel).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7119863"/>
            <a:ext cx="7966329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producer hire — fractional podcast editor at $2,500/mo from M4–6 — is the financial fulcrum of v2. It's why Y3 EBITDA goes UP $78K despite Y3 revenue going up only $144K.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801225" y="4118074"/>
            <a:ext cx="716184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Sponsorship reality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801225" y="4689574"/>
            <a:ext cx="7161848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niche-business CPMs ($25–55), need ~3K downloads/ep for $1K MRR and ~10K for $5K MRR. Y1 sponsorship is essentially zero in conservative/base. Aggressive case requires a single direct-sold $6K/mo partner from month 9.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791700" y="7137499"/>
            <a:ext cx="7204329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Lead-gen dominates sponsorship at every realistic scale through Y3.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attributable retainer/mo at $3K = $36K ARR / ~$90K LTV — equivalent to ~9 months of sponsorship at any realistic audience.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43000" y="9515475"/>
            <a:ext cx="345223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52 · PART VIII — FINANCIALS</a:t>
            </a:r>
            <a:endParaRPr lang="en-US" sz="15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— TOP 4 LEVERS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4 levers (v3): client wins, sprint price, workshop conversion, churn.</a:t>
            </a:r>
            <a:pPr algn="l" indent="0" marL="0">
              <a:lnSpc>
                <a:spcPct val="105000"/>
              </a:lnSpc>
              <a:buNone/>
            </a:pP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772668"/>
            <a:ext cx="647700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4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019300" y="3129855"/>
            <a:ext cx="334171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client wins per month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019300" y="3527003"/>
            <a:ext cx="14133612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 of the funnel. Everything else is leverage on this.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6046053" y="2953643"/>
            <a:ext cx="117514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±$72K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43000" y="4606156"/>
            <a:ext cx="647700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4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019300" y="4963344"/>
            <a:ext cx="1782589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Retainer price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019300" y="5360491"/>
            <a:ext cx="14133612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$1,500 / $2,500 / $3,000 spread, weighted by hospitality vs. services mix.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6046053" y="4787131"/>
            <a:ext cx="117514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±$54K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143000" y="6439644"/>
            <a:ext cx="647700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4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019300" y="6796832"/>
            <a:ext cx="53429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conversion · NEW IN v3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019300" y="7193979"/>
            <a:ext cx="14133612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Sprints/workshop × sprint→retainer rate. The dominant lever in cold motion.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6046053" y="6620619"/>
            <a:ext cx="117514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±$48K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143000" y="8273132"/>
            <a:ext cx="647700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4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2019300" y="8630320"/>
            <a:ext cx="823689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019300" y="9027468"/>
            <a:ext cx="14133612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year retainer life is the base assumption.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6046053" y="8454107"/>
            <a:ext cx="117514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±$36K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143000" y="9515475"/>
            <a:ext cx="347116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/ 52 · PART VIII — FINANCIALS</a:t>
            </a:r>
            <a:endParaRPr lang="en-US" sz="15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NUMBER TO TRACK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727573"/>
            <a:ext cx="5118069" cy="3060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600" spc="-6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number: $20K MRR by month 9–10.</a:t>
            </a:r>
            <a:pPr algn="l" indent="0" marL="0">
              <a:lnSpc>
                <a:spcPct val="120000"/>
              </a:lnSpc>
              <a:buNone/>
            </a:pP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143000" y="6511677"/>
            <a:ext cx="708336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conversion is the metric to watch weekly. Below 3 sprints/workshop or below 50% sprint→retainer by M3, audit the offer before scaling outreach.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6959352"/>
            <a:ext cx="708336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Passion project. Brand investment, not a lead engine.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53450" y="6511677"/>
            <a:ext cx="708336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2 BY MONTH 12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553450" y="6959352"/>
            <a:ext cx="708336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channel. Invest. Decide everything else from this signal.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9515475"/>
            <a:ext cx="34685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/ 52 · PART VIII — FINANCIALS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00248" y="914400"/>
            <a:ext cx="3244752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5000"/>
              </a:lnSpc>
              <a:buNone/>
            </a:pPr>
            <a:r>
              <a:rPr lang="en-US" sz="1650" spc="13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IX OF X · EXECUTION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883694"/>
            <a:ext cx="1973982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Part nine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3740944"/>
            <a:ext cx="13657637" cy="1566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</a:t>
            </a:r>
            <a:pPr algn="l" indent="0" marL="0">
              <a:lnSpc>
                <a:spcPct val="100000"/>
              </a:lnSpc>
              <a:buNone/>
            </a:pPr>
            <a:r>
              <a:rPr lang="en-US" sz="12000" i="1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ninety days.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5803106"/>
            <a:ext cx="12753975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 named outbound conversations. 5–7 booked Calendly calls. 2 paid sprints. 1–2 retainers signed. Podcast at 4×/week with audio editor + fractional producer landed.</a:t>
            </a:r>
            <a:endParaRPr lang="en-US" sz="3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90 DAYS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30 days, week by week.</a:t>
            </a:r>
            <a:pPr algn="l" indent="0" marL="0">
              <a:lnSpc>
                <a:spcPct val="105000"/>
              </a:lnSpc>
              <a:buNone/>
            </a:pP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486918"/>
            <a:ext cx="796632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spc="-1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143000" y="2891730"/>
            <a:ext cx="7966329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live with 3 cold-conversion starters ($750 / $1,500 / $1,800) + new tagline. Two GBPs claimed (PB + Pocs SAB). 23 cold emails sent (Mel 13 hospitality, Matt 8 eng-peer + 10 cold). First 2 workshops booked.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3687961"/>
            <a:ext cx="796632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spc="-1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43000" y="4092773"/>
            <a:ext cx="7966329" cy="62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more cold emails per geography. First 2 booked Calendly calls. Direct mail (Pocs) postcard list finalized. Podcast at 4×/week + Friday short. Newsletter recap goes live.</a:t>
            </a:r>
            <a:pPr algn="l" indent="0" marL="0">
              <a:lnSpc>
                <a:spcPct val="140000"/>
              </a:lnSpc>
              <a:buNone/>
            </a:pP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43000" y="4893766"/>
            <a:ext cx="796632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spc="-1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3–4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143000" y="5298579"/>
            <a:ext cx="7966329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sprint sold (likely AI Visibility Tune-Up at $750). First sample-build Loom recorded. Direct mail wave 1 ships (200 postcards). 4 booked calls cumulative.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410700" y="2486918"/>
            <a:ext cx="796632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spc="-1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5–8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410700" y="2891730"/>
            <a:ext cx="7966329" cy="62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sprint shipped. Retainer offered as yes/no follow-on. Second sprint sold. First workshop runs in PB (target 20+ attendees, 3+ individual consults).</a:t>
            </a:r>
            <a:pPr algn="l" indent="0" marL="0">
              <a:lnSpc>
                <a:spcPct val="140000"/>
              </a:lnSpc>
              <a:buNone/>
            </a:pPr>
            <a:pPr algn="l" indent="0" marL="0">
              <a:lnSpc>
                <a:spcPct val="140000"/>
              </a:lnSpc>
              <a:buNone/>
            </a:pP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410700" y="3692723"/>
            <a:ext cx="796632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spc="-1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9–12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410700" y="4097536"/>
            <a:ext cx="7966329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Operations Retainer signed (~$250–$3K MRR). 4 workshops cadence stable (2/geography/month). 8–10 sprints sold MTD. Restaurant Full Stack bundle launches as anchor offer. First case study published.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677400" y="5103316"/>
            <a:ext cx="743292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Day-30 exit metrics: 40+ named conversations · 6+ Calendly calls · 2 sprints sold · 1 shipped · 1 retainer offered · 1 workshop run · 200 postcards sent · 2 GBPs claimed.</a:t>
            </a:r>
            <a:pPr algn="l" indent="0" marL="0">
              <a:lnSpc>
                <a:spcPct val="150000"/>
              </a:lnSpc>
              <a:buNone/>
            </a:pP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9515475"/>
            <a:ext cx="323471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/ 52 · PART IX — EXECUTION</a:t>
            </a:r>
            <a:endParaRPr lang="en-US" sz="15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12 MONTHS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quarterly view (v3 cold motion).</a:t>
            </a:r>
            <a:pPr algn="l" indent="0" marL="0">
              <a:lnSpc>
                <a:spcPct val="105000"/>
              </a:lnSpc>
              <a:buNone/>
            </a:pP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2945160"/>
            <a:ext cx="109202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844626" y="2945160"/>
            <a:ext cx="181510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TARGET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40734" y="2945160"/>
            <a:ext cx="782736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INITIATIVE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084001" y="2945160"/>
            <a:ext cx="396108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3888135"/>
            <a:ext cx="1092026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2844626" y="3888135"/>
            <a:ext cx="1815108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$40–80K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040734" y="3888135"/>
            <a:ext cx="7827365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offers shipping. First 2–3 retainers. Podcast at 4×/wk with full editor.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3084001" y="3888135"/>
            <a:ext cx="3961087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Bookkeeper · Content + Ops VA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71600" y="5062538"/>
            <a:ext cx="1092026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2844626" y="5062538"/>
            <a:ext cx="1815108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$80–120K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040734" y="5062538"/>
            <a:ext cx="7827365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Hospitality vertical authority assets shipping (case studies, audiograms).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084001" y="5062538"/>
            <a:ext cx="3961087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371600" y="6232178"/>
            <a:ext cx="1092026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844626" y="6232178"/>
            <a:ext cx="1815108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$100–150K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5040734" y="6232178"/>
            <a:ext cx="7827365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"Augmentation Lens" framework named on-air. First podcast-attributable retainer wins.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084001" y="6232178"/>
            <a:ext cx="3961087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Fractional podcast editor (conditional) · Ops / PM coordinator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371600" y="7401818"/>
            <a:ext cx="1092026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2844626" y="7401818"/>
            <a:ext cx="1815108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$120–180K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5040734" y="7401818"/>
            <a:ext cx="782736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WikiFold v2 (productizable) scoped. Podcast at ≥1.5K listeners/ep.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3084001" y="7401818"/>
            <a:ext cx="3961087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Poconos field rep ($1,500/mo)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143000" y="8654504"/>
            <a:ext cx="14716125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Year 1 base case ceiling: ~$510K revenue · 12–15 clients · 3 fractional hires running · workshop circuit producing pipeline · podcast at 1.2–1.5K listeners/ep.</a:t>
            </a:r>
            <a:pPr algn="l" indent="0" marL="0">
              <a:lnSpc>
                <a:spcPct val="145000"/>
              </a:lnSpc>
              <a:buNone/>
            </a:pP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143000" y="9515475"/>
            <a:ext cx="328414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/ 52 · PART IX — EXECUTION</a:t>
            </a:r>
            <a:endParaRPr lang="en-US" sz="15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TRIGGERS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triggers: M3 / M6 / M9.</a:t>
            </a:r>
            <a:pPr algn="l" indent="0" marL="0">
              <a:lnSpc>
                <a:spcPct val="105000"/>
              </a:lnSpc>
              <a:buNone/>
            </a:pP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2505968"/>
            <a:ext cx="43085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83457" y="2505968"/>
            <a:ext cx="28796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23074" y="2505968"/>
            <a:ext cx="18810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5112" y="2505968"/>
            <a:ext cx="103978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3134618"/>
            <a:ext cx="430857" cy="32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183457" y="3134618"/>
            <a:ext cx="2879605" cy="32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4+ workshops run, 3+ sprints/workshop, 3+ retainers signed?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23074" y="3134618"/>
            <a:ext cx="1881039" cy="32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cadence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85112" y="3134618"/>
            <a:ext cx="1039788" cy="32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offer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371600" y="3774653"/>
            <a:ext cx="430857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183457" y="3774653"/>
            <a:ext cx="2879605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mail (Pocs) at 0.5%+ response rate?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23074" y="3774653"/>
            <a:ext cx="1881039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+ scale to 500-postcard waves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685112" y="3774653"/>
            <a:ext cx="1039788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Pocs cold; lean on workshops only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371600" y="4692774"/>
            <a:ext cx="430857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183457" y="4692774"/>
            <a:ext cx="2879605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$10K+ MRR running?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23074" y="4692774"/>
            <a:ext cx="1881039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current motion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685112" y="4692774"/>
            <a:ext cx="1039788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Pocs; concentrate Palm Beach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71600" y="5610895"/>
            <a:ext cx="430857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183457" y="5610895"/>
            <a:ext cx="2879605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Podcast-attributable leads ≥1/month?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23074" y="5610895"/>
            <a:ext cx="1881039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podcast editor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685112" y="5610895"/>
            <a:ext cx="1039788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editor; downscale podcast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371600" y="6529015"/>
            <a:ext cx="430857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2183457" y="6529015"/>
            <a:ext cx="2879605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Founders' weekly hours &lt;60 each?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423074" y="6529015"/>
            <a:ext cx="1881039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685112" y="6529015"/>
            <a:ext cx="1039788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2nd VA; renegotiate cadence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639300" y="2505968"/>
            <a:ext cx="43085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451157" y="2505968"/>
            <a:ext cx="274194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3557126" y="2505968"/>
            <a:ext cx="18666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YES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5804728" y="2505968"/>
            <a:ext cx="11878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39300" y="3134618"/>
            <a:ext cx="430857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0451157" y="3134618"/>
            <a:ext cx="2741948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$20K+ MRR running?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3557126" y="3134618"/>
            <a:ext cx="1866602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junior implementer + Pocs field rep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5804728" y="3134618"/>
            <a:ext cx="1187872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Hold; tighten conversion before adding payroll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639300" y="4057501"/>
            <a:ext cx="430857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0451157" y="4057501"/>
            <a:ext cx="2741948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A still right path?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3557126" y="4057501"/>
            <a:ext cx="1866602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5804728" y="4057501"/>
            <a:ext cx="1187872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Re-evaluate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9639300" y="4692774"/>
            <a:ext cx="430857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0451157" y="4692774"/>
            <a:ext cx="2741948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sponsorship offer arrived?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3557126" y="4692774"/>
            <a:ext cx="1866602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 before M18 regardless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5804728" y="4692774"/>
            <a:ext cx="1187872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9639300" y="5328047"/>
            <a:ext cx="430857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0451157" y="5328047"/>
            <a:ext cx="2741948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13557126" y="5328047"/>
            <a:ext cx="1866602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15804728" y="5328047"/>
            <a:ext cx="1187872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9639300" y="6246168"/>
            <a:ext cx="430857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10451157" y="6246168"/>
            <a:ext cx="2741948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13557126" y="6246168"/>
            <a:ext cx="1866602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15804728" y="6246168"/>
            <a:ext cx="1187872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9639300" y="7164288"/>
            <a:ext cx="430857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10451157" y="7164288"/>
            <a:ext cx="2741948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13557126" y="7164288"/>
            <a:ext cx="1866602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15804728" y="7164288"/>
            <a:ext cx="1187872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1143000" y="9515475"/>
            <a:ext cx="328782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/ 52 · PART IX — EXECUTION</a:t>
            </a:r>
            <a:endParaRPr lang="en-US" sz="1500" dirty="0"/>
          </a:p>
        </p:txBody>
      </p:sp>
      <p:pic>
        <p:nvPicPr>
          <p:cNvPr id="5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58" name="Text 55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HONEST GAPS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</a:t>
            </a:r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this plan.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485900" y="2639318"/>
            <a:ext cx="762342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 cannibalization risk.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of daily podcasts die inside 18 months. The kill criterion at M12 is real.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485900" y="3639443"/>
            <a:ext cx="7623429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 conditions must all hold.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position narrows · format chemistry holds · founder hours &lt;8/wk · newsletter capture works.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485900" y="5053905"/>
            <a:ext cx="7623429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to keep alive simultaneously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consulting + podcast + WikiFold — is harder than two. The fractional Whos are non-optional.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753600" y="2639318"/>
            <a:ext cx="7623429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Sponsorship temptation.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inbound offer probably arrives before audience quality justifies it. Refuse before M18 regardless of size.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753600" y="4053780"/>
            <a:ext cx="7623429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Mel-as-public-face is load-bearing.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Audiograms, "Friday operator-guest" interviews, vertical authority — all assume Mel is comfortable being publicly visible.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753600" y="5468243"/>
            <a:ext cx="762342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commoditization (24–36 mo)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partially mitigated by editorial archive, not eliminated.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753600" y="6468368"/>
            <a:ext cx="7623429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SaaS bundling (24–36 mo)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mitigated by independence-as-IP — strict no-platform-incumbent-sponsorship rule.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43000" y="9515475"/>
            <a:ext cx="32931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/ 52 · PART IX — EXECUTION</a:t>
            </a:r>
            <a:endParaRPr lang="en-US" sz="15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07440" y="914400"/>
            <a:ext cx="3937560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5000"/>
              </a:lnSpc>
              <a:buNone/>
            </a:pPr>
            <a:r>
              <a:rPr lang="en-US" sz="1650" spc="13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X OF X · OPEN QUESTIONS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121694"/>
            <a:ext cx="178273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Part ten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2978944"/>
            <a:ext cx="16482060" cy="3090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Seventeen </a:t>
            </a:r>
            <a:pPr algn="l" indent="0" marL="0">
              <a:lnSpc>
                <a:spcPct val="100000"/>
              </a:lnSpc>
              <a:buNone/>
            </a:pPr>
            <a:r>
              <a:rPr lang="en-US" sz="12000" i="1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</a:t>
            </a:r>
            <a:pPr algn="l" indent="0" marL="0">
              <a:lnSpc>
                <a:spcPct val="100000"/>
              </a:lnSpc>
              <a:buNone/>
            </a:pPr>
            <a:r>
              <a:rPr lang="en-US" sz="12000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questions.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6565106"/>
            <a:ext cx="12753975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need decisions before the first ninety days fully ships. Ten survived from v1; seven are new in v2 (podcast and starter services). The next move is the founders'.</a:t>
            </a:r>
            <a:endParaRPr lang="en-US" sz="3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open questions to unblock the first 30 days.</a:t>
            </a:r>
            <a:pPr algn="l" indent="0" marL="0">
              <a:lnSpc>
                <a:spcPct val="105000"/>
              </a:lnSpc>
              <a:buNone/>
            </a:pPr>
            <a:pPr algn="l" indent="0" marL="0">
              <a:lnSpc>
                <a:spcPct val="105000"/>
              </a:lnSpc>
              <a:buNone/>
            </a:pP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43100" y="2710755"/>
            <a:ext cx="7142226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commit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943100" y="3033638"/>
            <a:ext cx="714222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$750 / $1,500 / $1,800 starters live-publishable? Including the $250 / $300 / built-in $200 retainer tiers?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943100" y="4057576"/>
            <a:ext cx="7142226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venue commits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943100" y="4380458"/>
            <a:ext cx="71422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library / Chamber / coworking for the first PB workshop? Which for the first Pocs workshop?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43100" y="5090071"/>
            <a:ext cx="7142226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Poconos residency week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943100" y="5412953"/>
            <a:ext cx="71422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When? Recommendation: late February 2027 or earlier. Earlier is better for the M3 decision point.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943100" y="6122566"/>
            <a:ext cx="7142226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mail list commit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943100" y="6445448"/>
            <a:ext cx="71422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200-postcard first wave + letter follow-up. Budget ~$300 first wave / ~$1,000 first month.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43100" y="7155061"/>
            <a:ext cx="7142226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Google Business Profiles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943100" y="7477944"/>
            <a:ext cx="71422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Service-Area Business setup OK with both founders' addresses? Matt FL primary, Mel address for Pocs lookup.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210800" y="2710755"/>
            <a:ext cx="7142226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 hiring commit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210800" y="3033638"/>
            <a:ext cx="71422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$2,500–$3,000/mo at M2–3. Confirm budget tolerance.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210800" y="3743251"/>
            <a:ext cx="7142226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Tagline lock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210800" y="4066133"/>
            <a:ext cx="71422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'Stop renting your business from five SaaS companies. Own it once.' OK as the cross-market headline?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210800" y="4775746"/>
            <a:ext cx="7142226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0210800" y="5098628"/>
            <a:ext cx="71422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210800" y="5808241"/>
            <a:ext cx="7142226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210800" y="6131123"/>
            <a:ext cx="71422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210800" y="6840736"/>
            <a:ext cx="7142226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0210800" y="7163619"/>
            <a:ext cx="71422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143000" y="9515475"/>
            <a:ext cx="388360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/ 52 · PART X — OPEN QUESTIONS</a:t>
            </a:r>
            <a:endParaRPr lang="en-US" sz="15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QUESTIONS · PODCAST &amp; FORMAT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 and format commitments.</a:t>
            </a:r>
            <a:pPr algn="l" indent="0" marL="0">
              <a:lnSpc>
                <a:spcPct val="105000"/>
              </a:lnSpc>
              <a:buNone/>
            </a:pP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43100" y="2510730"/>
            <a:ext cx="1565795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 commit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43100" y="2986980"/>
            <a:ext cx="1565795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4×/week (Mon–Thu) + Friday short, or hold daily? `15-podcast-strategy.md` recommends 4×/wk to recover ~6 hr/wk.</a:t>
            </a:r>
            <a:pPr algn="l" indent="0" marL="0">
              <a:lnSpc>
                <a:spcPct val="150000"/>
              </a:lnSpc>
              <a:buNone/>
            </a:pPr>
            <a:pPr algn="l" indent="0" marL="0">
              <a:lnSpc>
                <a:spcPct val="150000"/>
              </a:lnSpc>
              <a:buNone/>
            </a:pP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943100" y="3629918"/>
            <a:ext cx="1565795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framework lock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943100" y="4106168"/>
            <a:ext cx="1565795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'The Augmentation Lens' or 'The Three-Question Test' or other? Without a named frame, the editorial position stays copyable.</a:t>
            </a:r>
            <a:pPr algn="l" indent="0" marL="0">
              <a:lnSpc>
                <a:spcPct val="150000"/>
              </a:lnSpc>
              <a:buNone/>
            </a:pP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943100" y="4749105"/>
            <a:ext cx="1565795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Sign-off ritual lock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943100" y="5225355"/>
            <a:ext cx="1565795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'Good vibes only' OK as the closing line? Lock for 8 weeks for habit-formation.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43100" y="5868293"/>
            <a:ext cx="1565795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 editor budget commit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943100" y="6344543"/>
            <a:ext cx="1565795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$2,500/mo from M6–9 — conditional on podcast-attributable leads ≥1 by M6. Skip if below.</a:t>
            </a:r>
            <a:pPr algn="l" indent="0" marL="0">
              <a:lnSpc>
                <a:spcPct val="150000"/>
              </a:lnSpc>
              <a:buNone/>
            </a:pP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943100" y="6987480"/>
            <a:ext cx="1565795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First-five hospitality customers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943100" y="7463730"/>
            <a:ext cx="1565795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names, not just neighborhoods. Mel's network list from week 1.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943100" y="8106668"/>
            <a:ext cx="1565795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SB-68 angle yes/no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943100" y="8582918"/>
            <a:ext cx="1565795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Menu + Reviews Lite sprint lean into the July 2026 allergen-disclosure law as the headline pitch?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943100" y="9225855"/>
            <a:ext cx="1565795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Multi-market rotation cadence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943100" y="9702105"/>
            <a:ext cx="1565795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2-week PB / 2-week Pocs rotation, 60/40 PB lean through M6 — confirm willingness.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43000" y="9515475"/>
            <a:ext cx="386459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/ 52 · PART X — OPEN QUESTIONS</a:t>
            </a:r>
            <a:endParaRPr lang="en-US" sz="15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VS V2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vs v2.</a:t>
            </a:r>
            <a:pPr algn="l" indent="0" marL="0">
              <a:lnSpc>
                <a:spcPct val="105000"/>
              </a:lnSpc>
              <a:buNone/>
            </a:pP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2582168"/>
            <a:ext cx="332308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41776" y="2582168"/>
            <a:ext cx="526300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95372" y="2582168"/>
            <a:ext cx="65243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3210818"/>
            <a:ext cx="3323081" cy="32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Walk-away Path 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41776" y="3210818"/>
            <a:ext cx="5263004" cy="32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$300K–800K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595372" y="3210818"/>
            <a:ext cx="6524375" cy="32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$700K–1.4M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71600" y="3850853"/>
            <a:ext cx="3323081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Walk-away Path C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41776" y="3850853"/>
            <a:ext cx="5263004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$8M–40M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595372" y="3850853"/>
            <a:ext cx="6524375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$14M–55M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371600" y="4486126"/>
            <a:ext cx="3323081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 base revenue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41776" y="4486126"/>
            <a:ext cx="5263004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$612K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595372" y="4486126"/>
            <a:ext cx="6524375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$756K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371600" y="5121399"/>
            <a:ext cx="3323081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 EBITDA margin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041776" y="5121399"/>
            <a:ext cx="5263004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595372" y="5121399"/>
            <a:ext cx="6524375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— net +$78K EBITDA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71600" y="5756672"/>
            <a:ext cx="3323081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3 Whos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041776" y="5756672"/>
            <a:ext cx="5263004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bookkeeper / ops PM / content editor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595372" y="5756672"/>
            <a:ext cx="6524375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bookkeeper / audio editor / podcast editor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71600" y="6391945"/>
            <a:ext cx="3323081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menu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41776" y="6391945"/>
            <a:ext cx="5263004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SKUs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595372" y="6391945"/>
            <a:ext cx="6524375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SKUs (3 starters added)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371600" y="7027218"/>
            <a:ext cx="3323081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first $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41776" y="7027218"/>
            <a:ext cx="5263004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5–6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595372" y="7027218"/>
            <a:ext cx="6524375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2–3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371600" y="7662490"/>
            <a:ext cx="3323081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podcast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041776" y="7662490"/>
            <a:ext cx="5263004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spots on others' shows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0595372" y="7662490"/>
            <a:ext cx="6524375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podcast at #4 + newsletter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371600" y="8297763"/>
            <a:ext cx="3323081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041776" y="8297763"/>
            <a:ext cx="5263004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gated on Matt commit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0595372" y="8297763"/>
            <a:ext cx="6524375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unblocked by daily research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371600" y="8933036"/>
            <a:ext cx="3323081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041776" y="8933036"/>
            <a:ext cx="5263004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0595372" y="8933036"/>
            <a:ext cx="6524375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4×/week + Friday short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371600" y="9568309"/>
            <a:ext cx="3323081" cy="32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Sponsorship guidance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041776" y="9568309"/>
            <a:ext cx="5263004" cy="32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mentioned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0595372" y="9568309"/>
            <a:ext cx="6524375" cy="32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 before M18 regardless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143000" y="9515475"/>
            <a:ext cx="388084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/ 52 · PART X — OPEN QUESTIONS</a:t>
            </a:r>
            <a:endParaRPr lang="en-US" sz="150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965945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POSTURE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585070"/>
            <a:ext cx="16482060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700" spc="-5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A only. Cold acquisition. Two geographies.</a:t>
            </a:r>
            <a:pPr algn="l" indent="0" marL="0">
              <a:lnSpc>
                <a:spcPct val="120000"/>
              </a:lnSpc>
              <a:buNone/>
            </a:pP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42975" y="4215705"/>
            <a:ext cx="7972425" cy="2452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renting your business from five SaaS companies. Own it once.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248775" y="4215705"/>
            <a:ext cx="7972425" cy="2867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cold-conversion starters at $750 / $1,500 / $1,800. Workshops + GBP + podcast as the channel stack. Path C deferred. Mel's network is upside, not plan. The seven open questions in the prior slide unblock the first 30 days.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43000" y="7806630"/>
            <a:ext cx="1648206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move is the founders'.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143000" y="9515475"/>
            <a:ext cx="19379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/ 52 · CLOSING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645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/>
              <a:t>Stop renting your business from five SaaS companies.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645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/>
              <a:t>Own it once.</a:t>
            </a:r>
          </a:p>
          <a:p/>
          <a:p>
            <a:r>
              <a:rPr sz="2800"/>
              <a:t>Anti-SaaS is the brand spine. Every offering replaces a named subscription with code the customer owns.</a:t>
            </a:r>
          </a:p>
          <a:p/>
          <a:p>
            <a:r>
              <a:rPr sz="2800"/>
              <a:t>Yext · BrightLocal · Bloom · Birdeye · OpenMenu · Goodcall · Numa · Hostfully — every one of them is a target.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0"/>
            <a:ext cx="1645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50 / 52 · TAGLINE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645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/>
              <a:t>Two geographies. Differentiated pricing.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645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/>
              <a:t>Palm Beach County, FL  ·  ~45–50K employer firms across 9 cities</a:t>
            </a:r>
          </a:p>
          <a:p>
            <a:r>
              <a:rPr sz="2800"/>
              <a:t>  Hospitality + home services + professional services + med spas + marine</a:t>
            </a:r>
          </a:p>
          <a:p>
            <a:r>
              <a:rPr sz="2800"/>
              <a:t>  Pricing: standard tier ($750 / $1,500 / $1,800 starters · $250–500/mo retainer)</a:t>
            </a:r>
          </a:p>
          <a:p>
            <a:r>
              <a:rPr sz="2800"/>
              <a:t>  Buying window: May–July</a:t>
            </a:r>
          </a:p>
          <a:p/>
          <a:p>
            <a:r>
              <a:rPr sz="2800"/>
              <a:t>Narrowsburg / Poconos region (Sullivan NY + Wayne/Pike/Monroe/Carbon PA)</a:t>
            </a:r>
          </a:p>
          <a:p>
            <a:r>
              <a:rPr sz="2800"/>
              <a:t>  ~422,650 residents · $8.2B/yr visitor spend</a:t>
            </a:r>
          </a:p>
          <a:p>
            <a:r>
              <a:rPr sz="2800"/>
              <a:t>  B&amp;Bs + outfitters + restaurants + makers + farms + service trades</a:t>
            </a:r>
          </a:p>
          <a:p>
            <a:r>
              <a:rPr sz="2800"/>
              <a:t>  Pricing: 30% lower · $750–$1,200/mo retainer floor · $300/mo total-software 'ouch' line</a:t>
            </a:r>
          </a:p>
          <a:p>
            <a:r>
              <a:rPr sz="2800"/>
              <a:t>  Buying window: Feb 1 – Apr 15 off-season</a:t>
            </a:r>
          </a:p>
          <a:p>
            <a:r>
              <a:rPr sz="2800"/>
              <a:t>  3 residency weeks/yr · $1,500/mo field rep at M12 — non-negotiable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0"/>
            <a:ext cx="1645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51 / 52 · TWO GEOGRAPHIES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869680"/>
            <a:ext cx="1645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/>
              <a:t>Source: 19-south-florida-market.md, 20-poconos-upstate-market.md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645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/>
              <a:t>$20K MRR by month 9–10. Honest math.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645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/>
              <a:t>Base case (workshops + cold + paid layered):</a:t>
            </a:r>
          </a:p>
          <a:p>
            <a:r>
              <a:rPr sz="2800"/>
              <a:t>  M3 ~$2K  ·  M5 ~$8K  ·  M7 ~$13K  ·  M9 ~$18K  ·  M10 ~$21K  ✓</a:t>
            </a:r>
          </a:p>
          <a:p/>
          <a:p>
            <a:r>
              <a:rPr sz="2800"/>
              <a:t>Upside case (cold paid converts AI Front-Desk at 4–5%):</a:t>
            </a:r>
          </a:p>
          <a:p>
            <a:r>
              <a:rPr sz="2800"/>
              <a:t>  $20K MRR by M7–8</a:t>
            </a:r>
          </a:p>
          <a:p/>
          <a:p>
            <a:r>
              <a:rPr sz="2800"/>
              <a:t>Conservative case (workshop attendance &lt;15 or sprint→retainer &lt;40%):</a:t>
            </a:r>
          </a:p>
          <a:p>
            <a:r>
              <a:rPr sz="2800"/>
              <a:t>  $20K MRR by M11–13</a:t>
            </a:r>
          </a:p>
          <a:p/>
          <a:p>
            <a:r>
              <a:rPr sz="2800"/>
              <a:t>Year-1 base case revenue: ~$510K (workshop sprint volume layers on top of recurring).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0"/>
            <a:ext cx="1645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52 / 52 · $20K MRR RAMP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869680"/>
            <a:ext cx="1645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/>
              <a:t>Source: 21-product-portfolio-options.md, 22-cold-acquisition-gtm.md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2026-04-30T20:50:41Z</dcterms:created>
  <dcterms:modified xsi:type="dcterms:W3CDTF">2026-04-30T20:50:41Z</dcterms:modified>
</cp:coreProperties>
</file>